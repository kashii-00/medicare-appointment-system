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e7e73986654e16" /><Relationship Type="http://schemas.openxmlformats.org/officeDocument/2006/relationships/extended-properties" Target="/docProps/app.xml" Id="Raab58a6a5b2c4cb8" /><Relationship Type="http://schemas.openxmlformats.org/officeDocument/2006/relationships/officeDocument" Target="/ppt/presentation.xml" Id="Rd98179bc5a034fd1" /></Relationships>
</file>

<file path=ppt/presentation.xml><?xml version="1.0" encoding="utf-8"?>
<p:presentation xmlns:p="http://schemas.openxmlformats.org/presentationml/2006/main">
  <p:sldMasterIdLst>
    <p:sldMasterId xmlns:r="http://schemas.openxmlformats.org/officeDocument/2006/relationships" id="2147483648" r:id="Rfb86c25f131c4719"/>
  </p:sldMasterIdLst>
  <p:notesMasterIdLst>
    <p:notesMasterId xmlns:r="http://schemas.openxmlformats.org/officeDocument/2006/relationships" r:id="Rb0dd4432c11d42cc"/>
  </p:notesMasterIdLst>
  <p:sldIdLst>
    <p:sldId xmlns:r="http://schemas.openxmlformats.org/officeDocument/2006/relationships" id="256" r:id="Rbbd9541e58b3485a"/>
    <p:sldId xmlns:r="http://schemas.openxmlformats.org/officeDocument/2006/relationships" id="257" r:id="R082cd3343ceb4d12"/>
    <p:sldId xmlns:r="http://schemas.openxmlformats.org/officeDocument/2006/relationships" id="258" r:id="Rdbb142e3c51048a5"/>
    <p:sldId xmlns:r="http://schemas.openxmlformats.org/officeDocument/2006/relationships" id="259" r:id="Reec5b2b22c6b4cc9"/>
    <p:sldId xmlns:r="http://schemas.openxmlformats.org/officeDocument/2006/relationships" id="260" r:id="R46d104805fa24b66"/>
    <p:sldId xmlns:r="http://schemas.openxmlformats.org/officeDocument/2006/relationships" id="261" r:id="Rd71c0d6d36b4404c"/>
    <p:sldId xmlns:r="http://schemas.openxmlformats.org/officeDocument/2006/relationships" id="262" r:id="R02fb6cbd83ae4899"/>
    <p:sldId xmlns:r="http://schemas.openxmlformats.org/officeDocument/2006/relationships" id="263" r:id="Rd9cbd2af62bb4e5c"/>
    <p:sldId xmlns:r="http://schemas.openxmlformats.org/officeDocument/2006/relationships" id="264" r:id="Rc27133ff76f04110"/>
    <p:sldId xmlns:r="http://schemas.openxmlformats.org/officeDocument/2006/relationships" id="265" r:id="R75dbab9601244fb4"/>
    <p:sldId xmlns:r="http://schemas.openxmlformats.org/officeDocument/2006/relationships" id="266" r:id="R235f47a4bd674b9c"/>
    <p:sldId xmlns:r="http://schemas.openxmlformats.org/officeDocument/2006/relationships" id="267" r:id="Rabcca966142b4c88"/>
    <p:sldId xmlns:r="http://schemas.openxmlformats.org/officeDocument/2006/relationships" id="268" r:id="Rdef07e9f152b48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391c83ffec4a94" /><Relationship Type="http://schemas.openxmlformats.org/officeDocument/2006/relationships/slideMaster" Target="/ppt/slideMasters/slideMaster1.xml" Id="Rfb86c25f131c4719" /><Relationship Type="http://schemas.openxmlformats.org/officeDocument/2006/relationships/notesMaster" Target="/ppt/notesMasters/notesMaster1.xml" Id="Rb0dd4432c11d42cc" /><Relationship Type="http://schemas.openxmlformats.org/officeDocument/2006/relationships/presProps" Target="/ppt/presProps.xml" Id="R28ec2047541243c6" /><Relationship Type="http://schemas.openxmlformats.org/officeDocument/2006/relationships/tableStyles" Target="/ppt/tableStyles.xml" Id="R790e6a0487f0487b" /><Relationship Type="http://schemas.openxmlformats.org/officeDocument/2006/relationships/slide" Target="/ppt/slides/slide1.xml" Id="Rbbd9541e58b3485a" /><Relationship Type="http://schemas.openxmlformats.org/officeDocument/2006/relationships/slide" Target="/ppt/slides/slide2.xml" Id="R082cd3343ceb4d12" /><Relationship Type="http://schemas.openxmlformats.org/officeDocument/2006/relationships/slide" Target="/ppt/slides/slide3.xml" Id="Rdbb142e3c51048a5" /><Relationship Type="http://schemas.openxmlformats.org/officeDocument/2006/relationships/slide" Target="/ppt/slides/slide4.xml" Id="Reec5b2b22c6b4cc9" /><Relationship Type="http://schemas.openxmlformats.org/officeDocument/2006/relationships/slide" Target="/ppt/slides/slide5.xml" Id="R46d104805fa24b66" /><Relationship Type="http://schemas.openxmlformats.org/officeDocument/2006/relationships/slide" Target="/ppt/slides/slide6.xml" Id="Rd71c0d6d36b4404c" /><Relationship Type="http://schemas.openxmlformats.org/officeDocument/2006/relationships/slide" Target="/ppt/slides/slide7.xml" Id="R02fb6cbd83ae4899" /><Relationship Type="http://schemas.openxmlformats.org/officeDocument/2006/relationships/slide" Target="/ppt/slides/slide8.xml" Id="Rd9cbd2af62bb4e5c" /><Relationship Type="http://schemas.openxmlformats.org/officeDocument/2006/relationships/slide" Target="/ppt/slides/slide9.xml" Id="Rc27133ff76f04110" /><Relationship Type="http://schemas.openxmlformats.org/officeDocument/2006/relationships/slide" Target="/ppt/slides/slide10.xml" Id="R75dbab9601244fb4" /><Relationship Type="http://schemas.openxmlformats.org/officeDocument/2006/relationships/slide" Target="/ppt/slides/slide11.xml" Id="R235f47a4bd674b9c" /><Relationship Type="http://schemas.openxmlformats.org/officeDocument/2006/relationships/slide" Target="/ppt/slides/slide12.xml" Id="Rabcca966142b4c88" /><Relationship Type="http://schemas.openxmlformats.org/officeDocument/2006/relationships/slide" Target="/ppt/slides/slide13.xml" Id="Rdef07e9f152b48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4e9c80d84045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0ccad9f10347e8" /><Relationship Type="http://schemas.openxmlformats.org/officeDocument/2006/relationships/notesMaster" Target="/ppt/notesMasters/notesMaster1.xml" Id="R50e7dcd042ed46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6325164ba7456c" /><Relationship Type="http://schemas.openxmlformats.org/officeDocument/2006/relationships/notesMaster" Target="/ppt/notesMasters/notesMaster1.xml" Id="R9582542a9279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294dbba3904b85" /><Relationship Type="http://schemas.openxmlformats.org/officeDocument/2006/relationships/notesMaster" Target="/ppt/notesMasters/notesMaster1.xml" Id="R6861e6294b7b49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942a0cc7424824" /><Relationship Type="http://schemas.openxmlformats.org/officeDocument/2006/relationships/notesMaster" Target="/ppt/notesMasters/notesMaster1.xml" Id="Rb1f7e1a5a8894a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cce0d0d79747c1" /><Relationship Type="http://schemas.openxmlformats.org/officeDocument/2006/relationships/notesMaster" Target="/ppt/notesMasters/notesMaster1.xml" Id="Rf9741bf668064b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b396cdaaba4090" /><Relationship Type="http://schemas.openxmlformats.org/officeDocument/2006/relationships/notesMaster" Target="/ppt/notesMasters/notesMaster1.xml" Id="Rd53f9d3a3b4c43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dd85a5653f4143" /><Relationship Type="http://schemas.openxmlformats.org/officeDocument/2006/relationships/notesMaster" Target="/ppt/notesMasters/notesMaster1.xml" Id="Rd8b5a24f476b48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ce80c1859d4d1e" /><Relationship Type="http://schemas.openxmlformats.org/officeDocument/2006/relationships/notesMaster" Target="/ppt/notesMasters/notesMaster1.xml" Id="R5e17eb56c48941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2318e63bd64d50" /><Relationship Type="http://schemas.openxmlformats.org/officeDocument/2006/relationships/notesMaster" Target="/ppt/notesMasters/notesMaster1.xml" Id="R291a68ef2aea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2887ef539044d6" /><Relationship Type="http://schemas.openxmlformats.org/officeDocument/2006/relationships/notesMaster" Target="/ppt/notesMasters/notesMaster1.xml" Id="R89a0b4f5631645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f48a45a54f4b46" /><Relationship Type="http://schemas.openxmlformats.org/officeDocument/2006/relationships/notesMaster" Target="/ppt/notesMasters/notesMaster1.xml" Id="Re9650bba41af40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d358a5bf1f49d5" /><Relationship Type="http://schemas.openxmlformats.org/officeDocument/2006/relationships/notesMaster" Target="/ppt/notesMasters/notesMaster1.xml" Id="Ra82c7e21b25243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d5faed393d4bda" /><Relationship Type="http://schemas.openxmlformats.org/officeDocument/2006/relationships/notesMaster" Target="/ppt/notesMasters/notesMaster1.xml" Id="R5c24f21c1b2949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coursework and your own name. Explain that this is a local Oracle database application. Source: assessment brief pages 1 to 3. Suggested presentation duration is 8 to 10 minutes plus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platform links doctors, patients and facilities. Registration, scheduling, consultation, prescriptions and payment records all use the same Oracle data. Source: evidence E01 and coursework brief page 2. The overview totals are captured sample values rather than fixed performance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calls /api through the Vite development proxy. Express validates and binds inputs. The service uses node-oracledb Thin mode and a pool to access MEDICARE in FREEPDB1 on port 1521. MC_API performs business operations and MC_REPORTS produces reports. Sources: backend/src/config.js, oracle.js, service.js and frontend/vite.config.js.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diagram summarizes seven of the twelve tables. Each appointment references one session and one patient. A session references one doctor and one facility. DOCTOR_SPECIALIZATIONS resolves the many to many relationship. Physical SQL cardinalities permit zero links, while doctor creation and full editing through the API require at least one specialization. Source: 01_medicare_schema.sql and backend validation.js.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adds five tables to APPOINTMENTS, giving twelve in total. Unique foreign keys permit one consultation per appointment and one prescription per consultation. DDL alone permits a prescription with no lines. MC_API.save_prescription requires at least one item and saves all rows atomically. Source: schema and save_prescription in 02_business_logic.sql.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stated functional dependencies. Separate medicine details from prescription instructions. Explain that agreed_fee records the historical amount accepted at booking, so it is a fact about the appointment. Conditional unique indexes enforce only non-cancelled slot and patient participation. Source: 01_medicare_schema.sql.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MC_API has eleven public procedures and two public functions. patient_age and appointment_balance calculate values. cancel_session declares c_bookings FOR UPDATE and uses WHERE CURRENT OF. Five triggers normalize values and protect history. MC_REPORTS has five SYS_REFCURSOR procedures. Source: 02_business_logic.sql.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record_payment locks the appointment row before reading its balance. This serializes payment changes using the same parent lock. It rejects a payment above the balance before INSERT. A procedure failure rolls back to its savepoint. The API commits success and rolls back failure. Business rules require MC_API, since the owner account can bypass packages with arbitrary DML. Sources: MC_API.record_payment and backend/src/service.js.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E03 shows appointment APT-221 for Test Patient and Test Doctor. The fee is LKR 6000 and the completed CASH payment is LKR 4500, leaving LKR 1500. Explain that voiding retains the original record but removes its amount from completed totals. The app does not charge a real card or send a bank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MC_REPORTS opens a SYS_REFCURSOR for each report. The API fetches and closes it before releasing the connection. Revenue uses payment dates and completed payments. Date ranges include both selected calendar dates. Patient history may return several rows for one visit because each medicine line contributes a row. Source: MC_REPORTS and evidence E07 to E11.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E04 shows browser max validation. A separate direct POST /api/payments with appointment_id 221, amount 2000 and CASH returned Oracle error ORA-20110. The user confirmed no extra payment and an unchanged LKR 1500 balance. Live smoke checks passed. Backend 27 tests use simulated connections. Frontend 11 unit tests and build passed in the authoring environment. True concurrent-client testing remains additional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Docker, the backend and frontend running. Use fictional data. A consultation requires a pending booking whose start time has passed, so prepare a separate eligible appointment. A future booking can demonstrate booking and payments. Use readable fictional clinical notes rather than the temporary test entries in the earlier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local workflows and reports have passed the walkthrough checks. Do not claim all possible negative paths or concurrent races were tested. The current app has no login or external payment gateway. Future work includes a restricted application database account, authentication, backup/restore validation and true concurrent booking tests. Conclude by opening the working system and the SQL source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8fdda1c0594c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45b22ee3d645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7b4459f36f43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39986350446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063869935b4f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a50afe25064f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3B07DC-BE3B-4310-9CFC-C2EE4421AE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34B215-0A79-4532-91A4-47DF47B042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858CB6-9185-4CAD-9FE5-B1358EE27B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D5D2F8-D9F7-4405-ACC0-AF7C63F7B8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934BF8-51AC-4D01-9E41-4AFDE6723B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01123F-1DD9-4ED1-A5D1-54F6D6DD00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354E97-B329-4B7A-8716-D161DBCF6B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BF9C86-2688-4B12-A532-3A7BA9147B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036809-5B17-42A3-9D59-2E903042CD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8D5BB-1455-40F9-847A-030F962F5D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6e0e8f209942b5" /><Relationship Type="http://schemas.openxmlformats.org/officeDocument/2006/relationships/slideLayout" Target="/ppt/slideLayouts/slideLayout1.xml" Id="Rdb4f7a45c55a4afd" /><Relationship Type="http://schemas.openxmlformats.org/officeDocument/2006/relationships/slideLayout" Target="/ppt/slideLayouts/slideLayout2.xml" Id="R3488b4e4fe9e431f" /><Relationship Type="http://schemas.openxmlformats.org/officeDocument/2006/relationships/slideLayout" Target="/ppt/slideLayouts/slideLayout3.xml" Id="R24e85e90eccf4914" /><Relationship Type="http://schemas.openxmlformats.org/officeDocument/2006/relationships/slideLayout" Target="/ppt/slideLayouts/slideLayout4.xml" Id="R43323a9b79a04e45" /><Relationship Type="http://schemas.openxmlformats.org/officeDocument/2006/relationships/slideLayout" Target="/ppt/slideLayouts/slideLayout5.xml" Id="R3a6c762e4a12457c" /><Relationship Type="http://schemas.openxmlformats.org/officeDocument/2006/relationships/slideLayout" Target="/ppt/slideLayouts/slideLayout6.xml" Id="R8e3cb476535843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4f7a45c55a4afd"/>
    <p:sldLayoutId xmlns:r="http://schemas.openxmlformats.org/officeDocument/2006/relationships" id="2147483650" r:id="R3488b4e4fe9e431f"/>
    <p:sldLayoutId xmlns:r="http://schemas.openxmlformats.org/officeDocument/2006/relationships" id="2147483651" r:id="R24e85e90eccf4914"/>
    <p:sldLayoutId xmlns:r="http://schemas.openxmlformats.org/officeDocument/2006/relationships" id="2147483652" r:id="R43323a9b79a04e45"/>
    <p:sldLayoutId xmlns:r="http://schemas.openxmlformats.org/officeDocument/2006/relationships" id="2147483653" r:id="R3a6c762e4a12457c"/>
    <p:sldLayoutId xmlns:r="http://schemas.openxmlformats.org/officeDocument/2006/relationships" id="2147483654" r:id="R8e3cb476535843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8b1fd20e7640de" /><Relationship Type="http://schemas.openxmlformats.org/officeDocument/2006/relationships/notesSlide" Target="/ppt/notesSlides/notesSlide1.xml" Id="R694e208aef9f4d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4b2e6854494b3a" /><Relationship Type="http://schemas.openxmlformats.org/officeDocument/2006/relationships/image" Target="/ppt/media/image.png" Id="R6610ce11e8e144fb" /><Relationship Type="http://schemas.openxmlformats.org/officeDocument/2006/relationships/notesSlide" Target="/ppt/notesSlides/notesSlide2.xml" Id="R9db38a51a8d04f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89bad4d267408d" /><Relationship Type="http://schemas.openxmlformats.org/officeDocument/2006/relationships/notesSlide" Target="/ppt/notesSlides/notesSlide3.xml" Id="R977d532e2d4346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94adf41caf4caf" /><Relationship Type="http://schemas.openxmlformats.org/officeDocument/2006/relationships/notesSlide" Target="/ppt/notesSlides/notesSlide4.xml" Id="R4ade3625617946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5738e08dce4e53" /><Relationship Type="http://schemas.openxmlformats.org/officeDocument/2006/relationships/notesSlide" Target="/ppt/notesSlides/notesSlide5.xml" Id="Rdb830387ea9e4d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03cc123a99423d" /><Relationship Type="http://schemas.openxmlformats.org/officeDocument/2006/relationships/notesSlide" Target="/ppt/notesSlides/notesSlide6.xml" Id="Rdf5e9951c33e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8b6e8923734882" /><Relationship Type="http://schemas.openxmlformats.org/officeDocument/2006/relationships/notesSlide" Target="/ppt/notesSlides/notesSlide7.xml" Id="R33c56d8f428048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f0c13144b34b65" /><Relationship Type="http://schemas.openxmlformats.org/officeDocument/2006/relationships/notesSlide" Target="/ppt/notesSlides/notesSlide8.xml" Id="R1ed68cd09b234b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2d1603b890e4128" /><Relationship Type="http://schemas.openxmlformats.org/officeDocument/2006/relationships/image" Target="/ppt/media/image2.png" Id="R145cd8996575483a" /><Relationship Type="http://schemas.openxmlformats.org/officeDocument/2006/relationships/notesSlide" Target="/ppt/notesSlides/notesSlide9.xml" Id="R2c48c7cf27d64c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3fdb0809e64275" /><Relationship Type="http://schemas.openxmlformats.org/officeDocument/2006/relationships/notesSlide" Target="/ppt/notesSlides/notesSlide10.xml" Id="R810b84e332ae4e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77c2d74db3471b" /><Relationship Type="http://schemas.openxmlformats.org/officeDocument/2006/relationships/image" Target="/ppt/media/image3.png" Id="R915f19c1abae4c86" /><Relationship Type="http://schemas.openxmlformats.org/officeDocument/2006/relationships/notesSlide" Target="/ppt/notesSlides/notesSlide11.xml" Id="Rd151fe16bb5f4c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9de604a66344b9" /><Relationship Type="http://schemas.openxmlformats.org/officeDocument/2006/relationships/notesSlide" Target="/ppt/notesSlides/notesSlide12.xml" Id="Rca941704f5f340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185f91672d4a1b" /><Relationship Type="http://schemas.openxmlformats.org/officeDocument/2006/relationships/notesSlide" Target="/ppt/notesSlides/notesSlide13.xml" Id="R4c4227030d4d40d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86023AF-3162-4C3A-B59E-0857D66C577C}"/>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MediCare Appointment</a:t>
            </a:r>
          </a:p>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Management System</a:t>
            </a:r>
          </a:p>
        </p:txBody>
      </p:sp>
      <p:sp>
        <p:nvSpPr>
          <p:cNvPr id="2" name="text-1">
            <a:extLst xmlns:a="http://schemas.openxmlformats.org/drawingml/2006/main">
              <a:ext uri="{FF2B5EF4-FFF2-40B4-BE49-F238E27FC236}">
                <a16:creationId xmlns:a16="http://schemas.microsoft.com/office/drawing/2014/main" id="{41C7B1FE-52B1-4A1D-92EF-C2085A091C5B}"/>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9F27D112-6598-4D87-AA19-3F7EC53BC617}"/>
              </a:ext>
            </a:extLst>
          </p:cNvPr>
          <p:cNvSpPr>
            <a:spLocks xmlns:a="http://schemas.openxmlformats.org/drawingml/2006/main" noGrp="1"/>
          </p:cNvSpPr>
          <p:nvPr/>
        </p:nvSpPr>
        <p:spPr>
          <a:xfrm xmlns:a="http://schemas.openxmlformats.org/drawingml/2006/main">
            <a:off x="609600" y="26479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3D38"/>
                </a:solidFill>
                <a:latin typeface="DejaVu Sans"/>
                <a:ea typeface="DejaVu Sans"/>
                <a:cs typeface="DejaVu Sans"/>
              </a:defRPr>
            </a:defPPr>
            <a:lvl1pPr>
              <a:defRPr sz="2250" b="0">
                <a:solidFill>
                  <a:srgbClr val="173D38"/>
                </a:solidFill>
                <a:latin typeface="DejaVu Sans"/>
                <a:ea typeface="DejaVu Sans"/>
                <a:cs typeface="DejaVu Sans"/>
              </a:defRPr>
            </a:lvl1pPr>
            <a:lvl2pPr>
              <a:defRPr sz="2250" b="0">
                <a:solidFill>
                  <a:srgbClr val="173D38"/>
                </a:solidFill>
                <a:latin typeface="DejaVu Sans"/>
                <a:ea typeface="DejaVu Sans"/>
                <a:cs typeface="DejaVu Sans"/>
              </a:defRPr>
            </a:lvl2pPr>
            <a:lvl3pPr>
              <a:defRPr sz="2250" b="0">
                <a:solidFill>
                  <a:srgbClr val="173D38"/>
                </a:solidFill>
                <a:latin typeface="DejaVu Sans"/>
                <a:ea typeface="DejaVu Sans"/>
                <a:cs typeface="DejaVu Sans"/>
              </a:defRPr>
            </a:lvl3pPr>
            <a:lvl4pPr>
              <a:defRPr sz="2250" b="0">
                <a:solidFill>
                  <a:srgbClr val="173D38"/>
                </a:solidFill>
                <a:latin typeface="DejaVu Sans"/>
                <a:ea typeface="DejaVu Sans"/>
                <a:cs typeface="DejaVu Sans"/>
              </a:defRPr>
            </a:lvl4pPr>
            <a:lvl5pPr>
              <a:defRPr sz="2250" b="0">
                <a:solidFill>
                  <a:srgbClr val="173D38"/>
                </a:solidFill>
                <a:latin typeface="DejaVu Sans"/>
                <a:ea typeface="DejaVu Sans"/>
                <a:cs typeface="DejaVu Sans"/>
              </a:defRPr>
            </a:lvl5pPr>
            <a:lvl6pPr>
              <a:defRPr sz="2250" b="0">
                <a:solidFill>
                  <a:srgbClr val="173D38"/>
                </a:solidFill>
                <a:latin typeface="DejaVu Sans"/>
                <a:ea typeface="DejaVu Sans"/>
                <a:cs typeface="DejaVu Sans"/>
              </a:defRPr>
            </a:lvl6pPr>
            <a:lvl7pPr>
              <a:defRPr sz="2250" b="0">
                <a:solidFill>
                  <a:srgbClr val="173D38"/>
                </a:solidFill>
                <a:latin typeface="DejaVu Sans"/>
                <a:ea typeface="DejaVu Sans"/>
                <a:cs typeface="DejaVu Sans"/>
              </a:defRPr>
            </a:lvl7pPr>
            <a:lvl8pPr>
              <a:defRPr sz="2250" b="0">
                <a:solidFill>
                  <a:srgbClr val="173D38"/>
                </a:solidFill>
                <a:latin typeface="DejaVu Sans"/>
                <a:ea typeface="DejaVu Sans"/>
                <a:cs typeface="DejaVu Sans"/>
              </a:defRPr>
            </a:lvl8pPr>
            <a:lvl9pPr>
              <a:defRPr sz="2250" b="0">
                <a:solidFill>
                  <a:srgbClr val="173D38"/>
                </a:solidFill>
                <a:latin typeface="DejaVu Sans"/>
                <a:ea typeface="DejaVu Sans"/>
                <a:cs typeface="DejaVu Sans"/>
              </a:defRPr>
            </a:lvl9pPr>
          </a:lstStyle>
          <a:p xmlns:a="http://schemas.openxmlformats.org/drawingml/2006/main">
            <a:pPr>
              <a:defRPr sz="2250" b="0">
                <a:solidFill>
                  <a:srgbClr val="173D38"/>
                </a:solidFill>
                <a:latin typeface="DejaVu Sans"/>
                <a:ea typeface="DejaVu Sans"/>
                <a:cs typeface="DejaVu Sans"/>
              </a:defRPr>
            </a:pPr>
            <a:r>
              <a:rPr sz="2250" b="0">
                <a:solidFill>
                  <a:srgbClr val="173D38"/>
                </a:solidFill>
                <a:latin typeface="DejaVu Sans"/>
                <a:ea typeface="DejaVu Sans"/>
                <a:cs typeface="DejaVu Sans"/>
              </a:rPr>
              <a:t>Advanced Database Management Systems</a:t>
            </a:r>
          </a:p>
        </p:txBody>
      </p:sp>
      <p:sp>
        <p:nvSpPr>
          <p:cNvPr id="4" name="text-3">
            <a:extLst xmlns:a="http://schemas.openxmlformats.org/drawingml/2006/main">
              <a:ext uri="{FF2B5EF4-FFF2-40B4-BE49-F238E27FC236}">
                <a16:creationId xmlns:a16="http://schemas.microsoft.com/office/drawing/2014/main" id="{9AE84BC4-E816-4D48-8079-05EDB503F52B}"/>
              </a:ext>
            </a:extLst>
          </p:cNvPr>
          <p:cNvSpPr>
            <a:spLocks xmlns:a="http://schemas.openxmlformats.org/drawingml/2006/main" noGrp="1"/>
          </p:cNvSpPr>
          <p:nvPr/>
        </p:nvSpPr>
        <p:spPr>
          <a:xfrm xmlns:a="http://schemas.openxmlformats.org/drawingml/2006/main">
            <a:off x="609600" y="419100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49635F"/>
                </a:solidFill>
                <a:latin typeface="DejaVu Sans"/>
                <a:ea typeface="DejaVu Sans"/>
                <a:cs typeface="DejaVu Sans"/>
              </a:defRPr>
            </a:defPPr>
            <a:lvl1pPr>
              <a:defRPr sz="1875" b="0">
                <a:solidFill>
                  <a:srgbClr val="49635F"/>
                </a:solidFill>
                <a:latin typeface="DejaVu Sans"/>
                <a:ea typeface="DejaVu Sans"/>
                <a:cs typeface="DejaVu Sans"/>
              </a:defRPr>
            </a:lvl1pPr>
            <a:lvl2pPr>
              <a:defRPr sz="1875" b="0">
                <a:solidFill>
                  <a:srgbClr val="49635F"/>
                </a:solidFill>
                <a:latin typeface="DejaVu Sans"/>
                <a:ea typeface="DejaVu Sans"/>
                <a:cs typeface="DejaVu Sans"/>
              </a:defRPr>
            </a:lvl2pPr>
            <a:lvl3pPr>
              <a:defRPr sz="1875" b="0">
                <a:solidFill>
                  <a:srgbClr val="49635F"/>
                </a:solidFill>
                <a:latin typeface="DejaVu Sans"/>
                <a:ea typeface="DejaVu Sans"/>
                <a:cs typeface="DejaVu Sans"/>
              </a:defRPr>
            </a:lvl3pPr>
            <a:lvl4pPr>
              <a:defRPr sz="1875" b="0">
                <a:solidFill>
                  <a:srgbClr val="49635F"/>
                </a:solidFill>
                <a:latin typeface="DejaVu Sans"/>
                <a:ea typeface="DejaVu Sans"/>
                <a:cs typeface="DejaVu Sans"/>
              </a:defRPr>
            </a:lvl4pPr>
            <a:lvl5pPr>
              <a:defRPr sz="1875" b="0">
                <a:solidFill>
                  <a:srgbClr val="49635F"/>
                </a:solidFill>
                <a:latin typeface="DejaVu Sans"/>
                <a:ea typeface="DejaVu Sans"/>
                <a:cs typeface="DejaVu Sans"/>
              </a:defRPr>
            </a:lvl5pPr>
            <a:lvl6pPr>
              <a:defRPr sz="1875" b="0">
                <a:solidFill>
                  <a:srgbClr val="49635F"/>
                </a:solidFill>
                <a:latin typeface="DejaVu Sans"/>
                <a:ea typeface="DejaVu Sans"/>
                <a:cs typeface="DejaVu Sans"/>
              </a:defRPr>
            </a:lvl6pPr>
            <a:lvl7pPr>
              <a:defRPr sz="1875" b="0">
                <a:solidFill>
                  <a:srgbClr val="49635F"/>
                </a:solidFill>
                <a:latin typeface="DejaVu Sans"/>
                <a:ea typeface="DejaVu Sans"/>
                <a:cs typeface="DejaVu Sans"/>
              </a:defRPr>
            </a:lvl7pPr>
            <a:lvl8pPr>
              <a:defRPr sz="1875" b="0">
                <a:solidFill>
                  <a:srgbClr val="49635F"/>
                </a:solidFill>
                <a:latin typeface="DejaVu Sans"/>
                <a:ea typeface="DejaVu Sans"/>
                <a:cs typeface="DejaVu Sans"/>
              </a:defRPr>
            </a:lvl8pPr>
            <a:lvl9pPr>
              <a:defRPr sz="1875" b="0">
                <a:solidFill>
                  <a:srgbClr val="49635F"/>
                </a:solidFill>
                <a:latin typeface="DejaVu Sans"/>
                <a:ea typeface="DejaVu Sans"/>
                <a:cs typeface="DejaVu Sans"/>
              </a:defRPr>
            </a:lvl9pPr>
          </a:lstStyle>
          <a:p xmlns:a="http://schemas.openxmlformats.org/drawingml/2006/main">
            <a:pPr>
              <a:defRPr sz="1875" b="0">
                <a:solidFill>
                  <a:srgbClr val="49635F"/>
                </a:solidFill>
                <a:latin typeface="DejaVu Sans"/>
                <a:ea typeface="DejaVu Sans"/>
                <a:cs typeface="DejaVu Sans"/>
              </a:defRPr>
            </a:pPr>
            <a:r>
              <a:rPr sz="1875" b="0">
                <a:solidFill>
                  <a:srgbClr val="49635F"/>
                </a:solidFill>
                <a:latin typeface="DejaVu Sans"/>
                <a:ea typeface="DejaVu Sans"/>
                <a:cs typeface="DejaVu Sans"/>
              </a:rPr>
              <a:t>Student name: ____________________</a:t>
            </a:r>
          </a:p>
          <a:p xmlns:a="http://schemas.openxmlformats.org/drawingml/2006/main">
            <a:pPr>
              <a:defRPr sz="1875" b="0">
                <a:solidFill>
                  <a:srgbClr val="49635F"/>
                </a:solidFill>
                <a:latin typeface="DejaVu Sans"/>
                <a:ea typeface="DejaVu Sans"/>
                <a:cs typeface="DejaVu Sans"/>
              </a:defRPr>
            </a:pPr>
            <a:r>
              <a:rPr sz="1875" b="0">
                <a:solidFill>
                  <a:srgbClr val="49635F"/>
                </a:solidFill>
                <a:latin typeface="DejaVu Sans"/>
                <a:ea typeface="DejaVu Sans"/>
                <a:cs typeface="DejaVu Sans"/>
              </a:rPr>
              <a:t>Student ID and batch: ____________________</a:t>
            </a:r>
          </a:p>
        </p:txBody>
      </p:sp>
    </p:spTree>
    <p:extLst>
      <p:ext uri="{BB962C8B-B14F-4D97-AF65-F5344CB8AC3E}">
        <p14:creationId xmlns:p14="http://schemas.microsoft.com/office/powerpoint/2010/main" val="2345534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43523AE-417E-4DEA-BD0F-63A6023630BD}"/>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System scope</a:t>
            </a:r>
          </a:p>
        </p:txBody>
      </p:sp>
      <p:sp>
        <p:nvSpPr>
          <p:cNvPr id="2" name="text-1">
            <a:extLst xmlns:a="http://schemas.openxmlformats.org/drawingml/2006/main">
              <a:ext uri="{FF2B5EF4-FFF2-40B4-BE49-F238E27FC236}">
                <a16:creationId xmlns:a16="http://schemas.microsoft.com/office/drawing/2014/main" id="{24C5B483-E7FD-4406-BEB2-57C996D2278F}"/>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02</a:t>
            </a:r>
          </a:p>
        </p:txBody>
      </p:sp>
      <p:pic>
        <p:nvPicPr>
          <p:cNvPr id="3" name="">
            <a:extLst xmlns:a="http://schemas.openxmlformats.org/drawingml/2006/main">
              <a:ext uri="{FF2B5EF4-FFF2-40B4-BE49-F238E27FC236}">
                <a16:creationId xmlns:a16="http://schemas.microsoft.com/office/drawing/2014/main" id="{A0F4DE1E-ADEE-45F9-969F-542706BA9DB8}"/>
              </a:ext>
            </a:extLst>
          </p:cNvPr>
          <p:cNvPicPr>
            <a:picLocks xmlns:a="http://schemas.openxmlformats.org/drawingml/2006/main" noChangeAspect="1"/>
          </p:cNvPicPr>
          <p:nvPr/>
        </p:nvPicPr>
        <p:blipFill>
          <a:blip xmlns:r="http://schemas.openxmlformats.org/officeDocument/2006/relationships" xmlns:a="http://schemas.openxmlformats.org/drawingml/2006/main" r:embed="R6610ce11e8e144fb"/>
          <a:stretch xmlns:a="http://schemas.openxmlformats.org/drawingml/2006/main"/>
        </p:blipFill>
        <p:spPr>
          <a:xfrm xmlns:a="http://schemas.openxmlformats.org/drawingml/2006/main">
            <a:off x="5095875" y="1852836"/>
            <a:ext cx="6572250" cy="354285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9B3B832B-7AD8-493E-BF7A-DC11655C1AAD}"/>
              </a:ext>
            </a:extLst>
          </p:cNvPr>
          <p:cNvSpPr>
            <a:spLocks xmlns:a="http://schemas.openxmlformats.org/drawingml/2006/main" noGrp="1"/>
          </p:cNvSpPr>
          <p:nvPr/>
        </p:nvSpPr>
        <p:spPr>
          <a:xfrm xmlns:a="http://schemas.openxmlformats.org/drawingml/2006/main">
            <a:off x="609600" y="1714500"/>
            <a:ext cx="428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D38"/>
                </a:solidFill>
                <a:latin typeface="DejaVu Sans"/>
                <a:ea typeface="DejaVu Sans"/>
                <a:cs typeface="DejaVu Sans"/>
              </a:defRPr>
            </a:defPPr>
            <a:lvl1pPr>
              <a:defRPr sz="1950" b="0">
                <a:solidFill>
                  <a:srgbClr val="173D38"/>
                </a:solidFill>
                <a:latin typeface="DejaVu Sans"/>
                <a:ea typeface="DejaVu Sans"/>
                <a:cs typeface="DejaVu Sans"/>
              </a:defRPr>
            </a:lvl1pPr>
            <a:lvl2pPr>
              <a:defRPr sz="1950" b="0">
                <a:solidFill>
                  <a:srgbClr val="173D38"/>
                </a:solidFill>
                <a:latin typeface="DejaVu Sans"/>
                <a:ea typeface="DejaVu Sans"/>
                <a:cs typeface="DejaVu Sans"/>
              </a:defRPr>
            </a:lvl2pPr>
            <a:lvl3pPr>
              <a:defRPr sz="1950" b="0">
                <a:solidFill>
                  <a:srgbClr val="173D38"/>
                </a:solidFill>
                <a:latin typeface="DejaVu Sans"/>
                <a:ea typeface="DejaVu Sans"/>
                <a:cs typeface="DejaVu Sans"/>
              </a:defRPr>
            </a:lvl3pPr>
            <a:lvl4pPr>
              <a:defRPr sz="1950" b="0">
                <a:solidFill>
                  <a:srgbClr val="173D38"/>
                </a:solidFill>
                <a:latin typeface="DejaVu Sans"/>
                <a:ea typeface="DejaVu Sans"/>
                <a:cs typeface="DejaVu Sans"/>
              </a:defRPr>
            </a:lvl4pPr>
            <a:lvl5pPr>
              <a:defRPr sz="1950" b="0">
                <a:solidFill>
                  <a:srgbClr val="173D38"/>
                </a:solidFill>
                <a:latin typeface="DejaVu Sans"/>
                <a:ea typeface="DejaVu Sans"/>
                <a:cs typeface="DejaVu Sans"/>
              </a:defRPr>
            </a:lvl5pPr>
            <a:lvl6pPr>
              <a:defRPr sz="1950" b="0">
                <a:solidFill>
                  <a:srgbClr val="173D38"/>
                </a:solidFill>
                <a:latin typeface="DejaVu Sans"/>
                <a:ea typeface="DejaVu Sans"/>
                <a:cs typeface="DejaVu Sans"/>
              </a:defRPr>
            </a:lvl6pPr>
            <a:lvl7pPr>
              <a:defRPr sz="1950" b="0">
                <a:solidFill>
                  <a:srgbClr val="173D38"/>
                </a:solidFill>
                <a:latin typeface="DejaVu Sans"/>
                <a:ea typeface="DejaVu Sans"/>
                <a:cs typeface="DejaVu Sans"/>
              </a:defRPr>
            </a:lvl7pPr>
            <a:lvl8pPr>
              <a:defRPr sz="1950" b="0">
                <a:solidFill>
                  <a:srgbClr val="173D38"/>
                </a:solidFill>
                <a:latin typeface="DejaVu Sans"/>
                <a:ea typeface="DejaVu Sans"/>
                <a:cs typeface="DejaVu Sans"/>
              </a:defRPr>
            </a:lvl8pPr>
            <a:lvl9pPr>
              <a:defRPr sz="1950" b="0">
                <a:solidFill>
                  <a:srgbClr val="173D38"/>
                </a:solidFill>
                <a:latin typeface="DejaVu Sans"/>
                <a:ea typeface="DejaVu Sans"/>
                <a:cs typeface="DejaVu Sans"/>
              </a:defRPr>
            </a:lvl9pPr>
          </a:lstStyle>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Doctor and patient records</a:t>
            </a:r>
          </a:p>
        </p:txBody>
      </p:sp>
      <p:sp>
        <p:nvSpPr>
          <p:cNvPr id="5" name="text-3">
            <a:extLst xmlns:a="http://schemas.openxmlformats.org/drawingml/2006/main">
              <a:ext uri="{FF2B5EF4-FFF2-40B4-BE49-F238E27FC236}">
                <a16:creationId xmlns:a16="http://schemas.microsoft.com/office/drawing/2014/main" id="{4286736A-02D5-42E2-B51D-5C0751CA6643}"/>
              </a:ext>
            </a:extLst>
          </p:cNvPr>
          <p:cNvSpPr>
            <a:spLocks xmlns:a="http://schemas.openxmlformats.org/drawingml/2006/main" noGrp="1"/>
          </p:cNvSpPr>
          <p:nvPr/>
        </p:nvSpPr>
        <p:spPr>
          <a:xfrm xmlns:a="http://schemas.openxmlformats.org/drawingml/2006/main">
            <a:off x="609600" y="2667000"/>
            <a:ext cx="428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D38"/>
                </a:solidFill>
                <a:latin typeface="DejaVu Sans"/>
                <a:ea typeface="DejaVu Sans"/>
                <a:cs typeface="DejaVu Sans"/>
              </a:defRPr>
            </a:defPPr>
            <a:lvl1pPr>
              <a:defRPr sz="1950" b="0">
                <a:solidFill>
                  <a:srgbClr val="173D38"/>
                </a:solidFill>
                <a:latin typeface="DejaVu Sans"/>
                <a:ea typeface="DejaVu Sans"/>
                <a:cs typeface="DejaVu Sans"/>
              </a:defRPr>
            </a:lvl1pPr>
            <a:lvl2pPr>
              <a:defRPr sz="1950" b="0">
                <a:solidFill>
                  <a:srgbClr val="173D38"/>
                </a:solidFill>
                <a:latin typeface="DejaVu Sans"/>
                <a:ea typeface="DejaVu Sans"/>
                <a:cs typeface="DejaVu Sans"/>
              </a:defRPr>
            </a:lvl2pPr>
            <a:lvl3pPr>
              <a:defRPr sz="1950" b="0">
                <a:solidFill>
                  <a:srgbClr val="173D38"/>
                </a:solidFill>
                <a:latin typeface="DejaVu Sans"/>
                <a:ea typeface="DejaVu Sans"/>
                <a:cs typeface="DejaVu Sans"/>
              </a:defRPr>
            </a:lvl3pPr>
            <a:lvl4pPr>
              <a:defRPr sz="1950" b="0">
                <a:solidFill>
                  <a:srgbClr val="173D38"/>
                </a:solidFill>
                <a:latin typeface="DejaVu Sans"/>
                <a:ea typeface="DejaVu Sans"/>
                <a:cs typeface="DejaVu Sans"/>
              </a:defRPr>
            </a:lvl4pPr>
            <a:lvl5pPr>
              <a:defRPr sz="1950" b="0">
                <a:solidFill>
                  <a:srgbClr val="173D38"/>
                </a:solidFill>
                <a:latin typeface="DejaVu Sans"/>
                <a:ea typeface="DejaVu Sans"/>
                <a:cs typeface="DejaVu Sans"/>
              </a:defRPr>
            </a:lvl5pPr>
            <a:lvl6pPr>
              <a:defRPr sz="1950" b="0">
                <a:solidFill>
                  <a:srgbClr val="173D38"/>
                </a:solidFill>
                <a:latin typeface="DejaVu Sans"/>
                <a:ea typeface="DejaVu Sans"/>
                <a:cs typeface="DejaVu Sans"/>
              </a:defRPr>
            </a:lvl6pPr>
            <a:lvl7pPr>
              <a:defRPr sz="1950" b="0">
                <a:solidFill>
                  <a:srgbClr val="173D38"/>
                </a:solidFill>
                <a:latin typeface="DejaVu Sans"/>
                <a:ea typeface="DejaVu Sans"/>
                <a:cs typeface="DejaVu Sans"/>
              </a:defRPr>
            </a:lvl7pPr>
            <a:lvl8pPr>
              <a:defRPr sz="1950" b="0">
                <a:solidFill>
                  <a:srgbClr val="173D38"/>
                </a:solidFill>
                <a:latin typeface="DejaVu Sans"/>
                <a:ea typeface="DejaVu Sans"/>
                <a:cs typeface="DejaVu Sans"/>
              </a:defRPr>
            </a:lvl8pPr>
            <a:lvl9pPr>
              <a:defRPr sz="1950" b="0">
                <a:solidFill>
                  <a:srgbClr val="173D38"/>
                </a:solidFill>
                <a:latin typeface="DejaVu Sans"/>
                <a:ea typeface="DejaVu Sans"/>
                <a:cs typeface="DejaVu Sans"/>
              </a:defRPr>
            </a:lvl9pPr>
          </a:lstStyle>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Sessions and appointments</a:t>
            </a:r>
          </a:p>
        </p:txBody>
      </p:sp>
      <p:sp>
        <p:nvSpPr>
          <p:cNvPr id="6" name="text-4">
            <a:extLst xmlns:a="http://schemas.openxmlformats.org/drawingml/2006/main">
              <a:ext uri="{FF2B5EF4-FFF2-40B4-BE49-F238E27FC236}">
                <a16:creationId xmlns:a16="http://schemas.microsoft.com/office/drawing/2014/main" id="{4926F41E-7C4F-4295-9DAC-C472E48407D1}"/>
              </a:ext>
            </a:extLst>
          </p:cNvPr>
          <p:cNvSpPr>
            <a:spLocks xmlns:a="http://schemas.openxmlformats.org/drawingml/2006/main" noGrp="1"/>
          </p:cNvSpPr>
          <p:nvPr/>
        </p:nvSpPr>
        <p:spPr>
          <a:xfrm xmlns:a="http://schemas.openxmlformats.org/drawingml/2006/main">
            <a:off x="609600" y="3619500"/>
            <a:ext cx="428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D38"/>
                </a:solidFill>
                <a:latin typeface="DejaVu Sans"/>
                <a:ea typeface="DejaVu Sans"/>
                <a:cs typeface="DejaVu Sans"/>
              </a:defRPr>
            </a:defPPr>
            <a:lvl1pPr>
              <a:defRPr sz="1950" b="0">
                <a:solidFill>
                  <a:srgbClr val="173D38"/>
                </a:solidFill>
                <a:latin typeface="DejaVu Sans"/>
                <a:ea typeface="DejaVu Sans"/>
                <a:cs typeface="DejaVu Sans"/>
              </a:defRPr>
            </a:lvl1pPr>
            <a:lvl2pPr>
              <a:defRPr sz="1950" b="0">
                <a:solidFill>
                  <a:srgbClr val="173D38"/>
                </a:solidFill>
                <a:latin typeface="DejaVu Sans"/>
                <a:ea typeface="DejaVu Sans"/>
                <a:cs typeface="DejaVu Sans"/>
              </a:defRPr>
            </a:lvl2pPr>
            <a:lvl3pPr>
              <a:defRPr sz="1950" b="0">
                <a:solidFill>
                  <a:srgbClr val="173D38"/>
                </a:solidFill>
                <a:latin typeface="DejaVu Sans"/>
                <a:ea typeface="DejaVu Sans"/>
                <a:cs typeface="DejaVu Sans"/>
              </a:defRPr>
            </a:lvl3pPr>
            <a:lvl4pPr>
              <a:defRPr sz="1950" b="0">
                <a:solidFill>
                  <a:srgbClr val="173D38"/>
                </a:solidFill>
                <a:latin typeface="DejaVu Sans"/>
                <a:ea typeface="DejaVu Sans"/>
                <a:cs typeface="DejaVu Sans"/>
              </a:defRPr>
            </a:lvl4pPr>
            <a:lvl5pPr>
              <a:defRPr sz="1950" b="0">
                <a:solidFill>
                  <a:srgbClr val="173D38"/>
                </a:solidFill>
                <a:latin typeface="DejaVu Sans"/>
                <a:ea typeface="DejaVu Sans"/>
                <a:cs typeface="DejaVu Sans"/>
              </a:defRPr>
            </a:lvl5pPr>
            <a:lvl6pPr>
              <a:defRPr sz="1950" b="0">
                <a:solidFill>
                  <a:srgbClr val="173D38"/>
                </a:solidFill>
                <a:latin typeface="DejaVu Sans"/>
                <a:ea typeface="DejaVu Sans"/>
                <a:cs typeface="DejaVu Sans"/>
              </a:defRPr>
            </a:lvl6pPr>
            <a:lvl7pPr>
              <a:defRPr sz="1950" b="0">
                <a:solidFill>
                  <a:srgbClr val="173D38"/>
                </a:solidFill>
                <a:latin typeface="DejaVu Sans"/>
                <a:ea typeface="DejaVu Sans"/>
                <a:cs typeface="DejaVu Sans"/>
              </a:defRPr>
            </a:lvl7pPr>
            <a:lvl8pPr>
              <a:defRPr sz="1950" b="0">
                <a:solidFill>
                  <a:srgbClr val="173D38"/>
                </a:solidFill>
                <a:latin typeface="DejaVu Sans"/>
                <a:ea typeface="DejaVu Sans"/>
                <a:cs typeface="DejaVu Sans"/>
              </a:defRPr>
            </a:lvl8pPr>
            <a:lvl9pPr>
              <a:defRPr sz="1950" b="0">
                <a:solidFill>
                  <a:srgbClr val="173D38"/>
                </a:solidFill>
                <a:latin typeface="DejaVu Sans"/>
                <a:ea typeface="DejaVu Sans"/>
                <a:cs typeface="DejaVu Sans"/>
              </a:defRPr>
            </a:lvl9pPr>
          </a:lstStyle>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Consultations and prescriptions</a:t>
            </a:r>
          </a:p>
        </p:txBody>
      </p:sp>
      <p:sp>
        <p:nvSpPr>
          <p:cNvPr id="7" name="text-5">
            <a:extLst xmlns:a="http://schemas.openxmlformats.org/drawingml/2006/main">
              <a:ext uri="{FF2B5EF4-FFF2-40B4-BE49-F238E27FC236}">
                <a16:creationId xmlns:a16="http://schemas.microsoft.com/office/drawing/2014/main" id="{C3183610-98D9-417E-B5B3-B33E3C10DD42}"/>
              </a:ext>
            </a:extLst>
          </p:cNvPr>
          <p:cNvSpPr>
            <a:spLocks xmlns:a="http://schemas.openxmlformats.org/drawingml/2006/main" noGrp="1"/>
          </p:cNvSpPr>
          <p:nvPr/>
        </p:nvSpPr>
        <p:spPr>
          <a:xfrm xmlns:a="http://schemas.openxmlformats.org/drawingml/2006/main">
            <a:off x="609600" y="4572000"/>
            <a:ext cx="428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D38"/>
                </a:solidFill>
                <a:latin typeface="DejaVu Sans"/>
                <a:ea typeface="DejaVu Sans"/>
                <a:cs typeface="DejaVu Sans"/>
              </a:defRPr>
            </a:defPPr>
            <a:lvl1pPr>
              <a:defRPr sz="1950" b="0">
                <a:solidFill>
                  <a:srgbClr val="173D38"/>
                </a:solidFill>
                <a:latin typeface="DejaVu Sans"/>
                <a:ea typeface="DejaVu Sans"/>
                <a:cs typeface="DejaVu Sans"/>
              </a:defRPr>
            </a:lvl1pPr>
            <a:lvl2pPr>
              <a:defRPr sz="1950" b="0">
                <a:solidFill>
                  <a:srgbClr val="173D38"/>
                </a:solidFill>
                <a:latin typeface="DejaVu Sans"/>
                <a:ea typeface="DejaVu Sans"/>
                <a:cs typeface="DejaVu Sans"/>
              </a:defRPr>
            </a:lvl2pPr>
            <a:lvl3pPr>
              <a:defRPr sz="1950" b="0">
                <a:solidFill>
                  <a:srgbClr val="173D38"/>
                </a:solidFill>
                <a:latin typeface="DejaVu Sans"/>
                <a:ea typeface="DejaVu Sans"/>
                <a:cs typeface="DejaVu Sans"/>
              </a:defRPr>
            </a:lvl3pPr>
            <a:lvl4pPr>
              <a:defRPr sz="1950" b="0">
                <a:solidFill>
                  <a:srgbClr val="173D38"/>
                </a:solidFill>
                <a:latin typeface="DejaVu Sans"/>
                <a:ea typeface="DejaVu Sans"/>
                <a:cs typeface="DejaVu Sans"/>
              </a:defRPr>
            </a:lvl4pPr>
            <a:lvl5pPr>
              <a:defRPr sz="1950" b="0">
                <a:solidFill>
                  <a:srgbClr val="173D38"/>
                </a:solidFill>
                <a:latin typeface="DejaVu Sans"/>
                <a:ea typeface="DejaVu Sans"/>
                <a:cs typeface="DejaVu Sans"/>
              </a:defRPr>
            </a:lvl5pPr>
            <a:lvl6pPr>
              <a:defRPr sz="1950" b="0">
                <a:solidFill>
                  <a:srgbClr val="173D38"/>
                </a:solidFill>
                <a:latin typeface="DejaVu Sans"/>
                <a:ea typeface="DejaVu Sans"/>
                <a:cs typeface="DejaVu Sans"/>
              </a:defRPr>
            </a:lvl6pPr>
            <a:lvl7pPr>
              <a:defRPr sz="1950" b="0">
                <a:solidFill>
                  <a:srgbClr val="173D38"/>
                </a:solidFill>
                <a:latin typeface="DejaVu Sans"/>
                <a:ea typeface="DejaVu Sans"/>
                <a:cs typeface="DejaVu Sans"/>
              </a:defRPr>
            </a:lvl7pPr>
            <a:lvl8pPr>
              <a:defRPr sz="1950" b="0">
                <a:solidFill>
                  <a:srgbClr val="173D38"/>
                </a:solidFill>
                <a:latin typeface="DejaVu Sans"/>
                <a:ea typeface="DejaVu Sans"/>
                <a:cs typeface="DejaVu Sans"/>
              </a:defRPr>
            </a:lvl8pPr>
            <a:lvl9pPr>
              <a:defRPr sz="1950" b="0">
                <a:solidFill>
                  <a:srgbClr val="173D38"/>
                </a:solidFill>
                <a:latin typeface="DejaVu Sans"/>
                <a:ea typeface="DejaVu Sans"/>
                <a:cs typeface="DejaVu Sans"/>
              </a:defRPr>
            </a:lvl9pPr>
          </a:lstStyle>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Payments and five reports</a:t>
            </a:r>
          </a:p>
        </p:txBody>
      </p:sp>
    </p:spTree>
    <p:extLst>
      <p:ext uri="{BB962C8B-B14F-4D97-AF65-F5344CB8AC3E}">
        <p14:creationId xmlns:p14="http://schemas.microsoft.com/office/powerpoint/2010/main" val="16811636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334A2D4-48EE-4169-BFAF-49E39845ACAB}"/>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Application and database architecture</a:t>
            </a:r>
          </a:p>
        </p:txBody>
      </p:sp>
      <p:sp>
        <p:nvSpPr>
          <p:cNvPr id="2" name="text-1">
            <a:extLst xmlns:a="http://schemas.openxmlformats.org/drawingml/2006/main">
              <a:ext uri="{FF2B5EF4-FFF2-40B4-BE49-F238E27FC236}">
                <a16:creationId xmlns:a16="http://schemas.microsoft.com/office/drawing/2014/main" id="{D0D969E0-4A68-4383-B141-C06568115ADE}"/>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03</a:t>
            </a:r>
          </a:p>
        </p:txBody>
      </p:sp>
      <p:sp>
        <p:nvSpPr>
          <p:cNvPr id="3" name="text-2">
            <a:extLst xmlns:a="http://schemas.openxmlformats.org/drawingml/2006/main">
              <a:ext uri="{FF2B5EF4-FFF2-40B4-BE49-F238E27FC236}">
                <a16:creationId xmlns:a16="http://schemas.microsoft.com/office/drawing/2014/main" id="{4AC07531-6F9C-431F-BF53-677BF75CE140}"/>
              </a:ext>
            </a:extLst>
          </p:cNvPr>
          <p:cNvSpPr>
            <a:spLocks xmlns:a="http://schemas.openxmlformats.org/drawingml/2006/main" noGrp="1"/>
          </p:cNvSpPr>
          <p:nvPr/>
        </p:nvSpPr>
        <p:spPr>
          <a:xfrm xmlns:a="http://schemas.openxmlformats.org/drawingml/2006/main">
            <a:off x="609600" y="16668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3D38"/>
                </a:solidFill>
                <a:latin typeface="DejaVu Sans"/>
                <a:ea typeface="DejaVu Sans"/>
                <a:cs typeface="DejaVu Sans"/>
              </a:defRPr>
            </a:defPPr>
            <a:lvl1pPr>
              <a:defRPr sz="2250" b="0">
                <a:solidFill>
                  <a:srgbClr val="173D38"/>
                </a:solidFill>
                <a:latin typeface="DejaVu Sans"/>
                <a:ea typeface="DejaVu Sans"/>
                <a:cs typeface="DejaVu Sans"/>
              </a:defRPr>
            </a:lvl1pPr>
            <a:lvl2pPr>
              <a:defRPr sz="2250" b="0">
                <a:solidFill>
                  <a:srgbClr val="173D38"/>
                </a:solidFill>
                <a:latin typeface="DejaVu Sans"/>
                <a:ea typeface="DejaVu Sans"/>
                <a:cs typeface="DejaVu Sans"/>
              </a:defRPr>
            </a:lvl2pPr>
            <a:lvl3pPr>
              <a:defRPr sz="2250" b="0">
                <a:solidFill>
                  <a:srgbClr val="173D38"/>
                </a:solidFill>
                <a:latin typeface="DejaVu Sans"/>
                <a:ea typeface="DejaVu Sans"/>
                <a:cs typeface="DejaVu Sans"/>
              </a:defRPr>
            </a:lvl3pPr>
            <a:lvl4pPr>
              <a:defRPr sz="2250" b="0">
                <a:solidFill>
                  <a:srgbClr val="173D38"/>
                </a:solidFill>
                <a:latin typeface="DejaVu Sans"/>
                <a:ea typeface="DejaVu Sans"/>
                <a:cs typeface="DejaVu Sans"/>
              </a:defRPr>
            </a:lvl4pPr>
            <a:lvl5pPr>
              <a:defRPr sz="2250" b="0">
                <a:solidFill>
                  <a:srgbClr val="173D38"/>
                </a:solidFill>
                <a:latin typeface="DejaVu Sans"/>
                <a:ea typeface="DejaVu Sans"/>
                <a:cs typeface="DejaVu Sans"/>
              </a:defRPr>
            </a:lvl5pPr>
            <a:lvl6pPr>
              <a:defRPr sz="2250" b="0">
                <a:solidFill>
                  <a:srgbClr val="173D38"/>
                </a:solidFill>
                <a:latin typeface="DejaVu Sans"/>
                <a:ea typeface="DejaVu Sans"/>
                <a:cs typeface="DejaVu Sans"/>
              </a:defRPr>
            </a:lvl6pPr>
            <a:lvl7pPr>
              <a:defRPr sz="2250" b="0">
                <a:solidFill>
                  <a:srgbClr val="173D38"/>
                </a:solidFill>
                <a:latin typeface="DejaVu Sans"/>
                <a:ea typeface="DejaVu Sans"/>
                <a:cs typeface="DejaVu Sans"/>
              </a:defRPr>
            </a:lvl7pPr>
            <a:lvl8pPr>
              <a:defRPr sz="2250" b="0">
                <a:solidFill>
                  <a:srgbClr val="173D38"/>
                </a:solidFill>
                <a:latin typeface="DejaVu Sans"/>
                <a:ea typeface="DejaVu Sans"/>
                <a:cs typeface="DejaVu Sans"/>
              </a:defRPr>
            </a:lvl8pPr>
            <a:lvl9pPr>
              <a:defRPr sz="2250" b="0">
                <a:solidFill>
                  <a:srgbClr val="173D38"/>
                </a:solidFill>
                <a:latin typeface="DejaVu Sans"/>
                <a:ea typeface="DejaVu Sans"/>
                <a:cs typeface="DejaVu Sans"/>
              </a:defRPr>
            </a:lvl9pPr>
          </a:lstStyle>
          <a:p xmlns:a="http://schemas.openxmlformats.org/drawingml/2006/main">
            <a:pPr>
              <a:defRPr sz="2250" b="0">
                <a:solidFill>
                  <a:srgbClr val="173D38"/>
                </a:solidFill>
                <a:latin typeface="DejaVu Sans"/>
                <a:ea typeface="DejaVu Sans"/>
                <a:cs typeface="DejaVu Sans"/>
              </a:defRPr>
            </a:pPr>
            <a:r>
              <a:rPr sz="2250" b="0">
                <a:solidFill>
                  <a:srgbClr val="173D38"/>
                </a:solidFill>
                <a:latin typeface="DejaVu Sans"/>
                <a:ea typeface="DejaVu Sans"/>
                <a:cs typeface="DejaVu Sans"/>
              </a:rPr>
              <a:t>React and Vite provide the staff workspace on port 5173</a:t>
            </a:r>
          </a:p>
        </p:txBody>
      </p:sp>
      <p:sp>
        <p:nvSpPr>
          <p:cNvPr id="4" name="text-3">
            <a:extLst xmlns:a="http://schemas.openxmlformats.org/drawingml/2006/main">
              <a:ext uri="{FF2B5EF4-FFF2-40B4-BE49-F238E27FC236}">
                <a16:creationId xmlns:a16="http://schemas.microsoft.com/office/drawing/2014/main" id="{C2CBDEB8-6BBC-41B7-B39B-A9DDCB7A03B9}"/>
              </a:ext>
            </a:extLst>
          </p:cNvPr>
          <p:cNvSpPr>
            <a:spLocks xmlns:a="http://schemas.openxmlformats.org/drawingml/2006/main" noGrp="1"/>
          </p:cNvSpPr>
          <p:nvPr/>
        </p:nvSpPr>
        <p:spPr>
          <a:xfrm xmlns:a="http://schemas.openxmlformats.org/drawingml/2006/main">
            <a:off x="609600" y="26574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3D38"/>
                </a:solidFill>
                <a:latin typeface="DejaVu Sans"/>
                <a:ea typeface="DejaVu Sans"/>
                <a:cs typeface="DejaVu Sans"/>
              </a:defRPr>
            </a:defPPr>
            <a:lvl1pPr>
              <a:defRPr sz="2250" b="0">
                <a:solidFill>
                  <a:srgbClr val="173D38"/>
                </a:solidFill>
                <a:latin typeface="DejaVu Sans"/>
                <a:ea typeface="DejaVu Sans"/>
                <a:cs typeface="DejaVu Sans"/>
              </a:defRPr>
            </a:lvl1pPr>
            <a:lvl2pPr>
              <a:defRPr sz="2250" b="0">
                <a:solidFill>
                  <a:srgbClr val="173D38"/>
                </a:solidFill>
                <a:latin typeface="DejaVu Sans"/>
                <a:ea typeface="DejaVu Sans"/>
                <a:cs typeface="DejaVu Sans"/>
              </a:defRPr>
            </a:lvl2pPr>
            <a:lvl3pPr>
              <a:defRPr sz="2250" b="0">
                <a:solidFill>
                  <a:srgbClr val="173D38"/>
                </a:solidFill>
                <a:latin typeface="DejaVu Sans"/>
                <a:ea typeface="DejaVu Sans"/>
                <a:cs typeface="DejaVu Sans"/>
              </a:defRPr>
            </a:lvl3pPr>
            <a:lvl4pPr>
              <a:defRPr sz="2250" b="0">
                <a:solidFill>
                  <a:srgbClr val="173D38"/>
                </a:solidFill>
                <a:latin typeface="DejaVu Sans"/>
                <a:ea typeface="DejaVu Sans"/>
                <a:cs typeface="DejaVu Sans"/>
              </a:defRPr>
            </a:lvl4pPr>
            <a:lvl5pPr>
              <a:defRPr sz="2250" b="0">
                <a:solidFill>
                  <a:srgbClr val="173D38"/>
                </a:solidFill>
                <a:latin typeface="DejaVu Sans"/>
                <a:ea typeface="DejaVu Sans"/>
                <a:cs typeface="DejaVu Sans"/>
              </a:defRPr>
            </a:lvl5pPr>
            <a:lvl6pPr>
              <a:defRPr sz="2250" b="0">
                <a:solidFill>
                  <a:srgbClr val="173D38"/>
                </a:solidFill>
                <a:latin typeface="DejaVu Sans"/>
                <a:ea typeface="DejaVu Sans"/>
                <a:cs typeface="DejaVu Sans"/>
              </a:defRPr>
            </a:lvl6pPr>
            <a:lvl7pPr>
              <a:defRPr sz="2250" b="0">
                <a:solidFill>
                  <a:srgbClr val="173D38"/>
                </a:solidFill>
                <a:latin typeface="DejaVu Sans"/>
                <a:ea typeface="DejaVu Sans"/>
                <a:cs typeface="DejaVu Sans"/>
              </a:defRPr>
            </a:lvl7pPr>
            <a:lvl8pPr>
              <a:defRPr sz="2250" b="0">
                <a:solidFill>
                  <a:srgbClr val="173D38"/>
                </a:solidFill>
                <a:latin typeface="DejaVu Sans"/>
                <a:ea typeface="DejaVu Sans"/>
                <a:cs typeface="DejaVu Sans"/>
              </a:defRPr>
            </a:lvl8pPr>
            <a:lvl9pPr>
              <a:defRPr sz="2250" b="0">
                <a:solidFill>
                  <a:srgbClr val="173D38"/>
                </a:solidFill>
                <a:latin typeface="DejaVu Sans"/>
                <a:ea typeface="DejaVu Sans"/>
                <a:cs typeface="DejaVu Sans"/>
              </a:defRPr>
            </a:lvl9pPr>
          </a:lstStyle>
          <a:p xmlns:a="http://schemas.openxmlformats.org/drawingml/2006/main">
            <a:pPr>
              <a:defRPr sz="2250" b="0">
                <a:solidFill>
                  <a:srgbClr val="173D38"/>
                </a:solidFill>
                <a:latin typeface="DejaVu Sans"/>
                <a:ea typeface="DejaVu Sans"/>
                <a:cs typeface="DejaVu Sans"/>
              </a:defRPr>
            </a:pPr>
            <a:r>
              <a:rPr sz="2250" b="0">
                <a:solidFill>
                  <a:srgbClr val="173D38"/>
                </a:solidFill>
                <a:latin typeface="DejaVu Sans"/>
                <a:ea typeface="DejaVu Sans"/>
                <a:cs typeface="DejaVu Sans"/>
              </a:rPr>
              <a:t>Node.js and Express expose the API on port 4000</a:t>
            </a:r>
          </a:p>
        </p:txBody>
      </p:sp>
      <p:sp>
        <p:nvSpPr>
          <p:cNvPr id="5" name="text-4">
            <a:extLst xmlns:a="http://schemas.openxmlformats.org/drawingml/2006/main">
              <a:ext uri="{FF2B5EF4-FFF2-40B4-BE49-F238E27FC236}">
                <a16:creationId xmlns:a16="http://schemas.microsoft.com/office/drawing/2014/main" id="{ECFE2FBC-320A-42CB-B385-DAFB1A21F649}"/>
              </a:ext>
            </a:extLst>
          </p:cNvPr>
          <p:cNvSpPr>
            <a:spLocks xmlns:a="http://schemas.openxmlformats.org/drawingml/2006/main" noGrp="1"/>
          </p:cNvSpPr>
          <p:nvPr/>
        </p:nvSpPr>
        <p:spPr>
          <a:xfrm xmlns:a="http://schemas.openxmlformats.org/drawingml/2006/main">
            <a:off x="609600" y="36480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3D38"/>
                </a:solidFill>
                <a:latin typeface="DejaVu Sans"/>
                <a:ea typeface="DejaVu Sans"/>
                <a:cs typeface="DejaVu Sans"/>
              </a:defRPr>
            </a:defPPr>
            <a:lvl1pPr>
              <a:defRPr sz="2250" b="0">
                <a:solidFill>
                  <a:srgbClr val="173D38"/>
                </a:solidFill>
                <a:latin typeface="DejaVu Sans"/>
                <a:ea typeface="DejaVu Sans"/>
                <a:cs typeface="DejaVu Sans"/>
              </a:defRPr>
            </a:lvl1pPr>
            <a:lvl2pPr>
              <a:defRPr sz="2250" b="0">
                <a:solidFill>
                  <a:srgbClr val="173D38"/>
                </a:solidFill>
                <a:latin typeface="DejaVu Sans"/>
                <a:ea typeface="DejaVu Sans"/>
                <a:cs typeface="DejaVu Sans"/>
              </a:defRPr>
            </a:lvl2pPr>
            <a:lvl3pPr>
              <a:defRPr sz="2250" b="0">
                <a:solidFill>
                  <a:srgbClr val="173D38"/>
                </a:solidFill>
                <a:latin typeface="DejaVu Sans"/>
                <a:ea typeface="DejaVu Sans"/>
                <a:cs typeface="DejaVu Sans"/>
              </a:defRPr>
            </a:lvl3pPr>
            <a:lvl4pPr>
              <a:defRPr sz="2250" b="0">
                <a:solidFill>
                  <a:srgbClr val="173D38"/>
                </a:solidFill>
                <a:latin typeface="DejaVu Sans"/>
                <a:ea typeface="DejaVu Sans"/>
                <a:cs typeface="DejaVu Sans"/>
              </a:defRPr>
            </a:lvl4pPr>
            <a:lvl5pPr>
              <a:defRPr sz="2250" b="0">
                <a:solidFill>
                  <a:srgbClr val="173D38"/>
                </a:solidFill>
                <a:latin typeface="DejaVu Sans"/>
                <a:ea typeface="DejaVu Sans"/>
                <a:cs typeface="DejaVu Sans"/>
              </a:defRPr>
            </a:lvl5pPr>
            <a:lvl6pPr>
              <a:defRPr sz="2250" b="0">
                <a:solidFill>
                  <a:srgbClr val="173D38"/>
                </a:solidFill>
                <a:latin typeface="DejaVu Sans"/>
                <a:ea typeface="DejaVu Sans"/>
                <a:cs typeface="DejaVu Sans"/>
              </a:defRPr>
            </a:lvl6pPr>
            <a:lvl7pPr>
              <a:defRPr sz="2250" b="0">
                <a:solidFill>
                  <a:srgbClr val="173D38"/>
                </a:solidFill>
                <a:latin typeface="DejaVu Sans"/>
                <a:ea typeface="DejaVu Sans"/>
                <a:cs typeface="DejaVu Sans"/>
              </a:defRPr>
            </a:lvl7pPr>
            <a:lvl8pPr>
              <a:defRPr sz="2250" b="0">
                <a:solidFill>
                  <a:srgbClr val="173D38"/>
                </a:solidFill>
                <a:latin typeface="DejaVu Sans"/>
                <a:ea typeface="DejaVu Sans"/>
                <a:cs typeface="DejaVu Sans"/>
              </a:defRPr>
            </a:lvl8pPr>
            <a:lvl9pPr>
              <a:defRPr sz="2250" b="0">
                <a:solidFill>
                  <a:srgbClr val="173D38"/>
                </a:solidFill>
                <a:latin typeface="DejaVu Sans"/>
                <a:ea typeface="DejaVu Sans"/>
                <a:cs typeface="DejaVu Sans"/>
              </a:defRPr>
            </a:lvl9pPr>
          </a:lstStyle>
          <a:p xmlns:a="http://schemas.openxmlformats.org/drawingml/2006/main">
            <a:pPr>
              <a:defRPr sz="2250" b="0">
                <a:solidFill>
                  <a:srgbClr val="173D38"/>
                </a:solidFill>
                <a:latin typeface="DejaVu Sans"/>
                <a:ea typeface="DejaVu Sans"/>
                <a:cs typeface="DejaVu Sans"/>
              </a:defRPr>
            </a:pPr>
            <a:r>
              <a:rPr sz="2250" b="0">
                <a:solidFill>
                  <a:srgbClr val="173D38"/>
                </a:solidFill>
                <a:latin typeface="DejaVu Sans"/>
                <a:ea typeface="DejaVu Sans"/>
                <a:cs typeface="DejaVu Sans"/>
              </a:rPr>
              <a:t>Oracle Free runs in Docker with the MEDICARE schema</a:t>
            </a:r>
          </a:p>
        </p:txBody>
      </p:sp>
      <p:sp>
        <p:nvSpPr>
          <p:cNvPr id="6" name="text-5">
            <a:extLst xmlns:a="http://schemas.openxmlformats.org/drawingml/2006/main">
              <a:ext uri="{FF2B5EF4-FFF2-40B4-BE49-F238E27FC236}">
                <a16:creationId xmlns:a16="http://schemas.microsoft.com/office/drawing/2014/main" id="{E5ADFBE4-2F8B-4B25-9FE7-734E2FB6A7B5}"/>
              </a:ext>
            </a:extLst>
          </p:cNvPr>
          <p:cNvSpPr>
            <a:spLocks xmlns:a="http://schemas.openxmlformats.org/drawingml/2006/main" noGrp="1"/>
          </p:cNvSpPr>
          <p:nvPr/>
        </p:nvSpPr>
        <p:spPr>
          <a:xfrm xmlns:a="http://schemas.openxmlformats.org/drawingml/2006/main">
            <a:off x="609600" y="46386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73D38"/>
                </a:solidFill>
                <a:latin typeface="DejaVu Sans"/>
                <a:ea typeface="DejaVu Sans"/>
                <a:cs typeface="DejaVu Sans"/>
              </a:defRPr>
            </a:defPPr>
            <a:lvl1pPr>
              <a:defRPr sz="2250" b="0">
                <a:solidFill>
                  <a:srgbClr val="173D38"/>
                </a:solidFill>
                <a:latin typeface="DejaVu Sans"/>
                <a:ea typeface="DejaVu Sans"/>
                <a:cs typeface="DejaVu Sans"/>
              </a:defRPr>
            </a:lvl1pPr>
            <a:lvl2pPr>
              <a:defRPr sz="2250" b="0">
                <a:solidFill>
                  <a:srgbClr val="173D38"/>
                </a:solidFill>
                <a:latin typeface="DejaVu Sans"/>
                <a:ea typeface="DejaVu Sans"/>
                <a:cs typeface="DejaVu Sans"/>
              </a:defRPr>
            </a:lvl2pPr>
            <a:lvl3pPr>
              <a:defRPr sz="2250" b="0">
                <a:solidFill>
                  <a:srgbClr val="173D38"/>
                </a:solidFill>
                <a:latin typeface="DejaVu Sans"/>
                <a:ea typeface="DejaVu Sans"/>
                <a:cs typeface="DejaVu Sans"/>
              </a:defRPr>
            </a:lvl3pPr>
            <a:lvl4pPr>
              <a:defRPr sz="2250" b="0">
                <a:solidFill>
                  <a:srgbClr val="173D38"/>
                </a:solidFill>
                <a:latin typeface="DejaVu Sans"/>
                <a:ea typeface="DejaVu Sans"/>
                <a:cs typeface="DejaVu Sans"/>
              </a:defRPr>
            </a:lvl4pPr>
            <a:lvl5pPr>
              <a:defRPr sz="2250" b="0">
                <a:solidFill>
                  <a:srgbClr val="173D38"/>
                </a:solidFill>
                <a:latin typeface="DejaVu Sans"/>
                <a:ea typeface="DejaVu Sans"/>
                <a:cs typeface="DejaVu Sans"/>
              </a:defRPr>
            </a:lvl5pPr>
            <a:lvl6pPr>
              <a:defRPr sz="2250" b="0">
                <a:solidFill>
                  <a:srgbClr val="173D38"/>
                </a:solidFill>
                <a:latin typeface="DejaVu Sans"/>
                <a:ea typeface="DejaVu Sans"/>
                <a:cs typeface="DejaVu Sans"/>
              </a:defRPr>
            </a:lvl6pPr>
            <a:lvl7pPr>
              <a:defRPr sz="2250" b="0">
                <a:solidFill>
                  <a:srgbClr val="173D38"/>
                </a:solidFill>
                <a:latin typeface="DejaVu Sans"/>
                <a:ea typeface="DejaVu Sans"/>
                <a:cs typeface="DejaVu Sans"/>
              </a:defRPr>
            </a:lvl7pPr>
            <a:lvl8pPr>
              <a:defRPr sz="2250" b="0">
                <a:solidFill>
                  <a:srgbClr val="173D38"/>
                </a:solidFill>
                <a:latin typeface="DejaVu Sans"/>
                <a:ea typeface="DejaVu Sans"/>
                <a:cs typeface="DejaVu Sans"/>
              </a:defRPr>
            </a:lvl8pPr>
            <a:lvl9pPr>
              <a:defRPr sz="2250" b="0">
                <a:solidFill>
                  <a:srgbClr val="173D38"/>
                </a:solidFill>
                <a:latin typeface="DejaVu Sans"/>
                <a:ea typeface="DejaVu Sans"/>
                <a:cs typeface="DejaVu Sans"/>
              </a:defRPr>
            </a:lvl9pPr>
          </a:lstStyle>
          <a:p xmlns:a="http://schemas.openxmlformats.org/drawingml/2006/main">
            <a:pPr>
              <a:defRPr sz="2250" b="0">
                <a:solidFill>
                  <a:srgbClr val="173D38"/>
                </a:solidFill>
                <a:latin typeface="DejaVu Sans"/>
                <a:ea typeface="DejaVu Sans"/>
                <a:cs typeface="DejaVu Sans"/>
              </a:defRPr>
            </a:pPr>
            <a:r>
              <a:rPr sz="2250" b="0">
                <a:solidFill>
                  <a:srgbClr val="173D38"/>
                </a:solidFill>
                <a:latin typeface="DejaVu Sans"/>
                <a:ea typeface="DejaVu Sans"/>
                <a:cs typeface="DejaVu Sans"/>
              </a:rPr>
              <a:t>MC_API and MC_REPORTS keep business rules in PL/SQL</a:t>
            </a:r>
          </a:p>
        </p:txBody>
      </p:sp>
    </p:spTree>
    <p:extLst>
      <p:ext uri="{BB962C8B-B14F-4D97-AF65-F5344CB8AC3E}">
        <p14:creationId xmlns:p14="http://schemas.microsoft.com/office/powerpoint/2010/main" val="14775163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F219ABFE-E5F3-4958-ADCA-CE3613A45563}"/>
              </a:ext>
            </a:extLst>
          </p:cNvPr>
          <p:cNvCxnSpPr>
            <a:stCxn xmlns:a="http://schemas.openxmlformats.org/drawingml/2006/main" id="18" idx="2"/>
            <a:endCxn xmlns:a="http://schemas.openxmlformats.org/drawingml/2006/main" id="21" idx="3"/>
          </p:cNvCxnSpPr>
          <p:nvPr/>
        </p:nvCxnSpPr>
        <p:spPr>
          <a:xfrm xmlns:a="http://schemas.openxmlformats.org/drawingml/2006/main" flipH="1">
            <a:off x="7572375" y="4324350"/>
            <a:ext cx="2524125" cy="1400175"/>
          </a:xfrm>
          <a:prstGeom xmlns:a="http://schemas.openxmlformats.org/drawingml/2006/main" prst="bentConnector3">
            <a:avLst>
              <a:gd name="adj1" fmla="val 0"/>
            </a:avLst>
          </a:prstGeom>
          <a:ln xmlns:a="http://schemas.openxmlformats.org/drawingml/2006/main" w="19050">
            <a:solidFill>
              <a:srgbClr val="64837C"/>
            </a:solidFill>
            <a:prstDash val="solid"/>
          </a:ln>
        </p:spPr>
      </p:cxnSp>
      <p:cxnSp>
        <p:nvCxnSpPr>
          <p:cNvPr id="32" name="">
            <a:extLst xmlns:a="http://schemas.openxmlformats.org/drawingml/2006/main">
              <a:ext uri="{FF2B5EF4-FFF2-40B4-BE49-F238E27FC236}">
                <a16:creationId xmlns:a16="http://schemas.microsoft.com/office/drawing/2014/main" id="{A765243E-CEBA-4C09-961A-FFE190EC827C}"/>
              </a:ext>
            </a:extLst>
          </p:cNvPr>
          <p:cNvCxnSpPr>
            <a:stCxn xmlns:a="http://schemas.openxmlformats.org/drawingml/2006/main" id="15" idx="2"/>
            <a:endCxn xmlns:a="http://schemas.openxmlformats.org/drawingml/2006/main" id="21" idx="0"/>
          </p:cNvCxnSpPr>
          <p:nvPr/>
        </p:nvCxnSpPr>
        <p:spPr>
          <a:xfrm xmlns:a="http://schemas.openxmlformats.org/drawingml/2006/main">
            <a:off x="6096000" y="4324350"/>
            <a:ext cx="0" cy="895350"/>
          </a:xfrm>
          <a:prstGeom xmlns:a="http://schemas.openxmlformats.org/drawingml/2006/main" prst="straightConnector1">
            <a:avLst/>
          </a:prstGeom>
          <a:ln xmlns:a="http://schemas.openxmlformats.org/drawingml/2006/main" w="19050">
            <a:solidFill>
              <a:srgbClr val="64837C"/>
            </a:solidFill>
            <a:prstDash val="solid"/>
          </a:ln>
        </p:spPr>
      </p:cxnSp>
      <p:cxnSp>
        <p:nvCxnSpPr>
          <p:cNvPr id="30" name="">
            <a:extLst xmlns:a="http://schemas.openxmlformats.org/drawingml/2006/main">
              <a:ext uri="{FF2B5EF4-FFF2-40B4-BE49-F238E27FC236}">
                <a16:creationId xmlns:a16="http://schemas.microsoft.com/office/drawing/2014/main" id="{66DD8485-B86F-4130-8BDC-A7BDE78B19C5}"/>
              </a:ext>
            </a:extLst>
          </p:cNvPr>
          <p:cNvCxnSpPr>
            <a:stCxn xmlns:a="http://schemas.openxmlformats.org/drawingml/2006/main" id="3" idx="2"/>
            <a:endCxn xmlns:a="http://schemas.openxmlformats.org/drawingml/2006/main" id="15" idx="0"/>
          </p:cNvCxnSpPr>
          <p:nvPr/>
        </p:nvCxnSpPr>
        <p:spPr>
          <a:xfrm xmlns:a="http://schemas.openxmlformats.org/drawingml/2006/main">
            <a:off x="2095500" y="2533650"/>
            <a:ext cx="4000500" cy="781050"/>
          </a:xfrm>
          <a:prstGeom xmlns:a="http://schemas.openxmlformats.org/drawingml/2006/main" prst="bentConnector4">
            <a:avLst>
              <a:gd name="adj1" fmla="val 0"/>
              <a:gd name="adj2" fmla="val 50000"/>
            </a:avLst>
          </a:prstGeom>
          <a:ln xmlns:a="http://schemas.openxmlformats.org/drawingml/2006/main" w="19050">
            <a:solidFill>
              <a:srgbClr val="64837C"/>
            </a:solidFill>
            <a:prstDash val="solid"/>
          </a:ln>
        </p:spPr>
      </p:cxnSp>
      <p:cxnSp>
        <p:nvCxnSpPr>
          <p:cNvPr id="28" name="">
            <a:extLst xmlns:a="http://schemas.openxmlformats.org/drawingml/2006/main">
              <a:ext uri="{FF2B5EF4-FFF2-40B4-BE49-F238E27FC236}">
                <a16:creationId xmlns:a16="http://schemas.microsoft.com/office/drawing/2014/main" id="{B5E53E11-DAA7-44D2-9829-625B8FA8B237}"/>
              </a:ext>
            </a:extLst>
          </p:cNvPr>
          <p:cNvCxnSpPr>
            <a:stCxn xmlns:a="http://schemas.openxmlformats.org/drawingml/2006/main" id="12" idx="3"/>
            <a:endCxn xmlns:a="http://schemas.openxmlformats.org/drawingml/2006/main" id="15" idx="1"/>
          </p:cNvCxnSpPr>
          <p:nvPr/>
        </p:nvCxnSpPr>
        <p:spPr>
          <a:xfrm xmlns:a="http://schemas.openxmlformats.org/drawingml/2006/main">
            <a:off x="3571875" y="3819525"/>
            <a:ext cx="1047750" cy="0"/>
          </a:xfrm>
          <a:prstGeom xmlns:a="http://schemas.openxmlformats.org/drawingml/2006/main" prst="straightConnector1">
            <a:avLst/>
          </a:prstGeom>
          <a:ln xmlns:a="http://schemas.openxmlformats.org/drawingml/2006/main" w="19050">
            <a:solidFill>
              <a:srgbClr val="64837C"/>
            </a:solidFill>
            <a:prstDash val="solid"/>
          </a:ln>
        </p:spPr>
      </p:cxnSp>
      <p:cxnSp>
        <p:nvCxnSpPr>
          <p:cNvPr id="26" name="">
            <a:extLst xmlns:a="http://schemas.openxmlformats.org/drawingml/2006/main">
              <a:ext uri="{FF2B5EF4-FFF2-40B4-BE49-F238E27FC236}">
                <a16:creationId xmlns:a16="http://schemas.microsoft.com/office/drawing/2014/main" id="{73EFCEC8-2136-448F-B613-1A1A4EB3710D}"/>
              </a:ext>
            </a:extLst>
          </p:cNvPr>
          <p:cNvCxnSpPr>
            <a:stCxn xmlns:a="http://schemas.openxmlformats.org/drawingml/2006/main" id="9" idx="1"/>
            <a:endCxn xmlns:a="http://schemas.openxmlformats.org/drawingml/2006/main" id="6" idx="3"/>
          </p:cNvCxnSpPr>
          <p:nvPr/>
        </p:nvCxnSpPr>
        <p:spPr>
          <a:xfrm xmlns:a="http://schemas.openxmlformats.org/drawingml/2006/main" flipH="1">
            <a:off x="7572375" y="2028825"/>
            <a:ext cx="1047750" cy="0"/>
          </a:xfrm>
          <a:prstGeom xmlns:a="http://schemas.openxmlformats.org/drawingml/2006/main" prst="straightConnector1">
            <a:avLst/>
          </a:prstGeom>
          <a:ln xmlns:a="http://schemas.openxmlformats.org/drawingml/2006/main" w="19050">
            <a:solidFill>
              <a:srgbClr val="64837C"/>
            </a:solidFill>
            <a:prstDash val="solid"/>
          </a:ln>
        </p:spPr>
      </p:cxnSp>
      <p:cxnSp>
        <p:nvCxnSpPr>
          <p:cNvPr id="24" name="">
            <a:extLst xmlns:a="http://schemas.openxmlformats.org/drawingml/2006/main">
              <a:ext uri="{FF2B5EF4-FFF2-40B4-BE49-F238E27FC236}">
                <a16:creationId xmlns:a16="http://schemas.microsoft.com/office/drawing/2014/main" id="{5E6C945B-3212-427E-8A20-6A9E19426E30}"/>
              </a:ext>
            </a:extLst>
          </p:cNvPr>
          <p:cNvCxnSpPr>
            <a:stCxn xmlns:a="http://schemas.openxmlformats.org/drawingml/2006/main" id="3" idx="3"/>
            <a:endCxn xmlns:a="http://schemas.openxmlformats.org/drawingml/2006/main" id="6" idx="1"/>
          </p:cNvCxnSpPr>
          <p:nvPr/>
        </p:nvCxnSpPr>
        <p:spPr>
          <a:xfrm xmlns:a="http://schemas.openxmlformats.org/drawingml/2006/main">
            <a:off x="3571875" y="2028825"/>
            <a:ext cx="1047750" cy="0"/>
          </a:xfrm>
          <a:prstGeom xmlns:a="http://schemas.openxmlformats.org/drawingml/2006/main" prst="straightConnector1">
            <a:avLst/>
          </a:prstGeom>
          <a:ln xmlns:a="http://schemas.openxmlformats.org/drawingml/2006/main" w="19050">
            <a:solidFill>
              <a:srgbClr val="64837C"/>
            </a:solidFill>
            <a:prstDash val="solid"/>
          </a:ln>
        </p:spPr>
      </p:cxnSp>
      <p:sp>
        <p:nvSpPr>
          <p:cNvPr id="36" name="text-0">
            <a:extLst xmlns:a="http://schemas.openxmlformats.org/drawingml/2006/main">
              <a:ext uri="{FF2B5EF4-FFF2-40B4-BE49-F238E27FC236}">
                <a16:creationId xmlns:a16="http://schemas.microsoft.com/office/drawing/2014/main" id="{06124470-9DA5-4DEE-8A97-B64491191459}"/>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ER model for scheduling</a:t>
            </a:r>
          </a:p>
        </p:txBody>
      </p:sp>
      <p:sp>
        <p:nvSpPr>
          <p:cNvPr id="2" name="text-1">
            <a:extLst xmlns:a="http://schemas.openxmlformats.org/drawingml/2006/main">
              <a:ext uri="{FF2B5EF4-FFF2-40B4-BE49-F238E27FC236}">
                <a16:creationId xmlns:a16="http://schemas.microsoft.com/office/drawing/2014/main" id="{95E70FD8-AA60-47E7-989E-20BD49D6E4FC}"/>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04</a:t>
            </a:r>
          </a:p>
        </p:txBody>
      </p:sp>
      <p:sp>
        <p:nvSpPr>
          <p:cNvPr id="3" name="DOCTORS">
            <a:extLst xmlns:a="http://schemas.openxmlformats.org/drawingml/2006/main">
              <a:ext uri="{FF2B5EF4-FFF2-40B4-BE49-F238E27FC236}">
                <a16:creationId xmlns:a16="http://schemas.microsoft.com/office/drawing/2014/main" id="{437FAB72-F6B5-4196-90AA-424A490E7490}"/>
              </a:ext>
            </a:extLst>
          </p:cNvPr>
          <p:cNvSpPr>
            <a:spLocks xmlns:a="http://schemas.openxmlformats.org/drawingml/2006/main" noGrp="1"/>
          </p:cNvSpPr>
          <p:nvPr/>
        </p:nvSpPr>
        <p:spPr>
          <a:xfrm xmlns:a="http://schemas.openxmlformats.org/drawingml/2006/main">
            <a:off x="619125" y="15240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4" name="text-3">
            <a:extLst xmlns:a="http://schemas.openxmlformats.org/drawingml/2006/main">
              <a:ext uri="{FF2B5EF4-FFF2-40B4-BE49-F238E27FC236}">
                <a16:creationId xmlns:a16="http://schemas.microsoft.com/office/drawing/2014/main" id="{A70A4B6B-D1D8-480B-A47A-015B0C2FDE41}"/>
              </a:ext>
            </a:extLst>
          </p:cNvPr>
          <p:cNvSpPr>
            <a:spLocks xmlns:a="http://schemas.openxmlformats.org/drawingml/2006/main" noGrp="1"/>
          </p:cNvSpPr>
          <p:nvPr/>
        </p:nvSpPr>
        <p:spPr>
          <a:xfrm xmlns:a="http://schemas.openxmlformats.org/drawingml/2006/main">
            <a:off x="714375" y="16002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DOCTORS</a:t>
            </a:r>
          </a:p>
        </p:txBody>
      </p:sp>
      <p:sp>
        <p:nvSpPr>
          <p:cNvPr id="5" name="text-4">
            <a:extLst xmlns:a="http://schemas.openxmlformats.org/drawingml/2006/main">
              <a:ext uri="{FF2B5EF4-FFF2-40B4-BE49-F238E27FC236}">
                <a16:creationId xmlns:a16="http://schemas.microsoft.com/office/drawing/2014/main" id="{1E1F2F88-78B2-4798-9363-1B64B430AC27}"/>
              </a:ext>
            </a:extLst>
          </p:cNvPr>
          <p:cNvSpPr>
            <a:spLocks xmlns:a="http://schemas.openxmlformats.org/drawingml/2006/main" noGrp="1"/>
          </p:cNvSpPr>
          <p:nvPr/>
        </p:nvSpPr>
        <p:spPr>
          <a:xfrm xmlns:a="http://schemas.openxmlformats.org/drawingml/2006/main">
            <a:off x="714375" y="19526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doctor_id</a:t>
            </a:r>
          </a:p>
        </p:txBody>
      </p:sp>
      <p:sp>
        <p:nvSpPr>
          <p:cNvPr id="6" name="DOCTOR_SPECIALIZATIONS">
            <a:extLst xmlns:a="http://schemas.openxmlformats.org/drawingml/2006/main">
              <a:ext uri="{FF2B5EF4-FFF2-40B4-BE49-F238E27FC236}">
                <a16:creationId xmlns:a16="http://schemas.microsoft.com/office/drawing/2014/main" id="{0D353C97-3F8C-4595-BB40-885063C833E7}"/>
              </a:ext>
            </a:extLst>
          </p:cNvPr>
          <p:cNvSpPr>
            <a:spLocks xmlns:a="http://schemas.openxmlformats.org/drawingml/2006/main" noGrp="1"/>
          </p:cNvSpPr>
          <p:nvPr/>
        </p:nvSpPr>
        <p:spPr>
          <a:xfrm xmlns:a="http://schemas.openxmlformats.org/drawingml/2006/main">
            <a:off x="4619625" y="15240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7" name="text-6">
            <a:extLst xmlns:a="http://schemas.openxmlformats.org/drawingml/2006/main">
              <a:ext uri="{FF2B5EF4-FFF2-40B4-BE49-F238E27FC236}">
                <a16:creationId xmlns:a16="http://schemas.microsoft.com/office/drawing/2014/main" id="{488FE16A-A95C-4D97-AAFE-BE0CB08D1096}"/>
              </a:ext>
            </a:extLst>
          </p:cNvPr>
          <p:cNvSpPr>
            <a:spLocks xmlns:a="http://schemas.openxmlformats.org/drawingml/2006/main" noGrp="1"/>
          </p:cNvSpPr>
          <p:nvPr/>
        </p:nvSpPr>
        <p:spPr>
          <a:xfrm xmlns:a="http://schemas.openxmlformats.org/drawingml/2006/main">
            <a:off x="4714875" y="16002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73D38"/>
                </a:solidFill>
                <a:latin typeface="DejaVu Sans"/>
                <a:ea typeface="DejaVu Sans"/>
                <a:cs typeface="DejaVu Sans"/>
              </a:defRPr>
            </a:defPPr>
            <a:lvl1pPr>
              <a:defRPr sz="1200" b="1">
                <a:solidFill>
                  <a:srgbClr val="173D38"/>
                </a:solidFill>
                <a:latin typeface="DejaVu Sans"/>
                <a:ea typeface="DejaVu Sans"/>
                <a:cs typeface="DejaVu Sans"/>
              </a:defRPr>
            </a:lvl1pPr>
            <a:lvl2pPr>
              <a:defRPr sz="1200" b="1">
                <a:solidFill>
                  <a:srgbClr val="173D38"/>
                </a:solidFill>
                <a:latin typeface="DejaVu Sans"/>
                <a:ea typeface="DejaVu Sans"/>
                <a:cs typeface="DejaVu Sans"/>
              </a:defRPr>
            </a:lvl2pPr>
            <a:lvl3pPr>
              <a:defRPr sz="1200" b="1">
                <a:solidFill>
                  <a:srgbClr val="173D38"/>
                </a:solidFill>
                <a:latin typeface="DejaVu Sans"/>
                <a:ea typeface="DejaVu Sans"/>
                <a:cs typeface="DejaVu Sans"/>
              </a:defRPr>
            </a:lvl3pPr>
            <a:lvl4pPr>
              <a:defRPr sz="1200" b="1">
                <a:solidFill>
                  <a:srgbClr val="173D38"/>
                </a:solidFill>
                <a:latin typeface="DejaVu Sans"/>
                <a:ea typeface="DejaVu Sans"/>
                <a:cs typeface="DejaVu Sans"/>
              </a:defRPr>
            </a:lvl4pPr>
            <a:lvl5pPr>
              <a:defRPr sz="1200" b="1">
                <a:solidFill>
                  <a:srgbClr val="173D38"/>
                </a:solidFill>
                <a:latin typeface="DejaVu Sans"/>
                <a:ea typeface="DejaVu Sans"/>
                <a:cs typeface="DejaVu Sans"/>
              </a:defRPr>
            </a:lvl5pPr>
            <a:lvl6pPr>
              <a:defRPr sz="1200" b="1">
                <a:solidFill>
                  <a:srgbClr val="173D38"/>
                </a:solidFill>
                <a:latin typeface="DejaVu Sans"/>
                <a:ea typeface="DejaVu Sans"/>
                <a:cs typeface="DejaVu Sans"/>
              </a:defRPr>
            </a:lvl6pPr>
            <a:lvl7pPr>
              <a:defRPr sz="1200" b="1">
                <a:solidFill>
                  <a:srgbClr val="173D38"/>
                </a:solidFill>
                <a:latin typeface="DejaVu Sans"/>
                <a:ea typeface="DejaVu Sans"/>
                <a:cs typeface="DejaVu Sans"/>
              </a:defRPr>
            </a:lvl7pPr>
            <a:lvl8pPr>
              <a:defRPr sz="1200" b="1">
                <a:solidFill>
                  <a:srgbClr val="173D38"/>
                </a:solidFill>
                <a:latin typeface="DejaVu Sans"/>
                <a:ea typeface="DejaVu Sans"/>
                <a:cs typeface="DejaVu Sans"/>
              </a:defRPr>
            </a:lvl8pPr>
            <a:lvl9pPr>
              <a:defRPr sz="1200" b="1">
                <a:solidFill>
                  <a:srgbClr val="173D38"/>
                </a:solidFill>
                <a:latin typeface="DejaVu Sans"/>
                <a:ea typeface="DejaVu Sans"/>
                <a:cs typeface="DejaVu Sans"/>
              </a:defRPr>
            </a:lvl9pPr>
          </a:lstStyle>
          <a:p xmlns:a="http://schemas.openxmlformats.org/drawingml/2006/main">
            <a:pPr>
              <a:defRPr sz="1200" b="1">
                <a:solidFill>
                  <a:srgbClr val="173D38"/>
                </a:solidFill>
                <a:latin typeface="DejaVu Sans"/>
                <a:ea typeface="DejaVu Sans"/>
                <a:cs typeface="DejaVu Sans"/>
              </a:defRPr>
            </a:pPr>
            <a:r>
              <a:rPr sz="1200" b="1">
                <a:solidFill>
                  <a:srgbClr val="173D38"/>
                </a:solidFill>
                <a:latin typeface="DejaVu Sans"/>
                <a:ea typeface="DejaVu Sans"/>
                <a:cs typeface="DejaVu Sans"/>
              </a:rPr>
              <a:t>DOCTOR_SPECIALIZATIONS</a:t>
            </a:r>
          </a:p>
        </p:txBody>
      </p:sp>
      <p:sp>
        <p:nvSpPr>
          <p:cNvPr id="8" name="text-7">
            <a:extLst xmlns:a="http://schemas.openxmlformats.org/drawingml/2006/main">
              <a:ext uri="{FF2B5EF4-FFF2-40B4-BE49-F238E27FC236}">
                <a16:creationId xmlns:a16="http://schemas.microsoft.com/office/drawing/2014/main" id="{883525BE-5E43-467C-AA45-CDAE3EC63843}"/>
              </a:ext>
            </a:extLst>
          </p:cNvPr>
          <p:cNvSpPr>
            <a:spLocks xmlns:a="http://schemas.openxmlformats.org/drawingml/2006/main" noGrp="1"/>
          </p:cNvSpPr>
          <p:nvPr/>
        </p:nvSpPr>
        <p:spPr>
          <a:xfrm xmlns:a="http://schemas.openxmlformats.org/drawingml/2006/main">
            <a:off x="4714875" y="19526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FK doctor_id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FK specialization_id</a:t>
            </a:r>
          </a:p>
        </p:txBody>
      </p:sp>
      <p:sp>
        <p:nvSpPr>
          <p:cNvPr id="9" name="SPECIALIZATIONS">
            <a:extLst xmlns:a="http://schemas.openxmlformats.org/drawingml/2006/main">
              <a:ext uri="{FF2B5EF4-FFF2-40B4-BE49-F238E27FC236}">
                <a16:creationId xmlns:a16="http://schemas.microsoft.com/office/drawing/2014/main" id="{1241ABB2-2491-42C8-B870-C01185EFCF4A}"/>
              </a:ext>
            </a:extLst>
          </p:cNvPr>
          <p:cNvSpPr>
            <a:spLocks xmlns:a="http://schemas.openxmlformats.org/drawingml/2006/main" noGrp="1"/>
          </p:cNvSpPr>
          <p:nvPr/>
        </p:nvSpPr>
        <p:spPr>
          <a:xfrm xmlns:a="http://schemas.openxmlformats.org/drawingml/2006/main">
            <a:off x="8620125" y="15240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0" name="text-9">
            <a:extLst xmlns:a="http://schemas.openxmlformats.org/drawingml/2006/main">
              <a:ext uri="{FF2B5EF4-FFF2-40B4-BE49-F238E27FC236}">
                <a16:creationId xmlns:a16="http://schemas.microsoft.com/office/drawing/2014/main" id="{3350D476-9ED1-4DDE-9161-D1D3D5E8916E}"/>
              </a:ext>
            </a:extLst>
          </p:cNvPr>
          <p:cNvSpPr>
            <a:spLocks xmlns:a="http://schemas.openxmlformats.org/drawingml/2006/main" noGrp="1"/>
          </p:cNvSpPr>
          <p:nvPr/>
        </p:nvSpPr>
        <p:spPr>
          <a:xfrm xmlns:a="http://schemas.openxmlformats.org/drawingml/2006/main">
            <a:off x="8715375" y="16002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SPECIALIZATIONS</a:t>
            </a:r>
          </a:p>
        </p:txBody>
      </p:sp>
      <p:sp>
        <p:nvSpPr>
          <p:cNvPr id="11" name="text-10">
            <a:extLst xmlns:a="http://schemas.openxmlformats.org/drawingml/2006/main">
              <a:ext uri="{FF2B5EF4-FFF2-40B4-BE49-F238E27FC236}">
                <a16:creationId xmlns:a16="http://schemas.microsoft.com/office/drawing/2014/main" id="{AA1F4E0B-0068-4FA3-82ED-8548F69154EF}"/>
              </a:ext>
            </a:extLst>
          </p:cNvPr>
          <p:cNvSpPr>
            <a:spLocks xmlns:a="http://schemas.openxmlformats.org/drawingml/2006/main" noGrp="1"/>
          </p:cNvSpPr>
          <p:nvPr/>
        </p:nvSpPr>
        <p:spPr>
          <a:xfrm xmlns:a="http://schemas.openxmlformats.org/drawingml/2006/main">
            <a:off x="8715375" y="19526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specialization_id</a:t>
            </a:r>
          </a:p>
        </p:txBody>
      </p:sp>
      <p:sp>
        <p:nvSpPr>
          <p:cNvPr id="12" name="CLINICS">
            <a:extLst xmlns:a="http://schemas.openxmlformats.org/drawingml/2006/main">
              <a:ext uri="{FF2B5EF4-FFF2-40B4-BE49-F238E27FC236}">
                <a16:creationId xmlns:a16="http://schemas.microsoft.com/office/drawing/2014/main" id="{01E62378-53F1-4C9F-983C-D8AC2EB84A47}"/>
              </a:ext>
            </a:extLst>
          </p:cNvPr>
          <p:cNvSpPr>
            <a:spLocks xmlns:a="http://schemas.openxmlformats.org/drawingml/2006/main" noGrp="1"/>
          </p:cNvSpPr>
          <p:nvPr/>
        </p:nvSpPr>
        <p:spPr>
          <a:xfrm xmlns:a="http://schemas.openxmlformats.org/drawingml/2006/main">
            <a:off x="619125" y="33147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3" name="text-12">
            <a:extLst xmlns:a="http://schemas.openxmlformats.org/drawingml/2006/main">
              <a:ext uri="{FF2B5EF4-FFF2-40B4-BE49-F238E27FC236}">
                <a16:creationId xmlns:a16="http://schemas.microsoft.com/office/drawing/2014/main" id="{DC3EB653-1491-4A5C-BEE6-E318EE89F6C1}"/>
              </a:ext>
            </a:extLst>
          </p:cNvPr>
          <p:cNvSpPr>
            <a:spLocks xmlns:a="http://schemas.openxmlformats.org/drawingml/2006/main" noGrp="1"/>
          </p:cNvSpPr>
          <p:nvPr/>
        </p:nvSpPr>
        <p:spPr>
          <a:xfrm xmlns:a="http://schemas.openxmlformats.org/drawingml/2006/main">
            <a:off x="714375" y="33909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CLINICS</a:t>
            </a:r>
          </a:p>
        </p:txBody>
      </p:sp>
      <p:sp>
        <p:nvSpPr>
          <p:cNvPr id="14" name="text-13">
            <a:extLst xmlns:a="http://schemas.openxmlformats.org/drawingml/2006/main">
              <a:ext uri="{FF2B5EF4-FFF2-40B4-BE49-F238E27FC236}">
                <a16:creationId xmlns:a16="http://schemas.microsoft.com/office/drawing/2014/main" id="{2932C70C-A261-4278-AE33-7BFCDF9C6BD0}"/>
              </a:ext>
            </a:extLst>
          </p:cNvPr>
          <p:cNvSpPr>
            <a:spLocks xmlns:a="http://schemas.openxmlformats.org/drawingml/2006/main" noGrp="1"/>
          </p:cNvSpPr>
          <p:nvPr/>
        </p:nvSpPr>
        <p:spPr>
          <a:xfrm xmlns:a="http://schemas.openxmlformats.org/drawingml/2006/main">
            <a:off x="714375" y="37433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clinic_id</a:t>
            </a:r>
          </a:p>
        </p:txBody>
      </p:sp>
      <p:sp>
        <p:nvSpPr>
          <p:cNvPr id="15" name="DOCTOR_SESSIONS">
            <a:extLst xmlns:a="http://schemas.openxmlformats.org/drawingml/2006/main">
              <a:ext uri="{FF2B5EF4-FFF2-40B4-BE49-F238E27FC236}">
                <a16:creationId xmlns:a16="http://schemas.microsoft.com/office/drawing/2014/main" id="{7C31CAB8-99A3-4438-8146-7B862C2C1326}"/>
              </a:ext>
            </a:extLst>
          </p:cNvPr>
          <p:cNvSpPr>
            <a:spLocks xmlns:a="http://schemas.openxmlformats.org/drawingml/2006/main" noGrp="1"/>
          </p:cNvSpPr>
          <p:nvPr/>
        </p:nvSpPr>
        <p:spPr>
          <a:xfrm xmlns:a="http://schemas.openxmlformats.org/drawingml/2006/main">
            <a:off x="4619625" y="33147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6" name="text-15">
            <a:extLst xmlns:a="http://schemas.openxmlformats.org/drawingml/2006/main">
              <a:ext uri="{FF2B5EF4-FFF2-40B4-BE49-F238E27FC236}">
                <a16:creationId xmlns:a16="http://schemas.microsoft.com/office/drawing/2014/main" id="{3E01B738-D6F5-4E72-B758-3D188001958A}"/>
              </a:ext>
            </a:extLst>
          </p:cNvPr>
          <p:cNvSpPr>
            <a:spLocks xmlns:a="http://schemas.openxmlformats.org/drawingml/2006/main" noGrp="1"/>
          </p:cNvSpPr>
          <p:nvPr/>
        </p:nvSpPr>
        <p:spPr>
          <a:xfrm xmlns:a="http://schemas.openxmlformats.org/drawingml/2006/main">
            <a:off x="4714875" y="33909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DOCTOR_SESSIONS</a:t>
            </a:r>
          </a:p>
        </p:txBody>
      </p:sp>
      <p:sp>
        <p:nvSpPr>
          <p:cNvPr id="17" name="text-16">
            <a:extLst xmlns:a="http://schemas.openxmlformats.org/drawingml/2006/main">
              <a:ext uri="{FF2B5EF4-FFF2-40B4-BE49-F238E27FC236}">
                <a16:creationId xmlns:a16="http://schemas.microsoft.com/office/drawing/2014/main" id="{47ECA53C-28EF-4FA0-9588-BA61C6469591}"/>
              </a:ext>
            </a:extLst>
          </p:cNvPr>
          <p:cNvSpPr>
            <a:spLocks xmlns:a="http://schemas.openxmlformats.org/drawingml/2006/main" noGrp="1"/>
          </p:cNvSpPr>
          <p:nvPr/>
        </p:nvSpPr>
        <p:spPr>
          <a:xfrm xmlns:a="http://schemas.openxmlformats.org/drawingml/2006/main">
            <a:off x="4714875" y="37433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session_id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doctor_id, clinic_id</a:t>
            </a:r>
          </a:p>
        </p:txBody>
      </p:sp>
      <p:sp>
        <p:nvSpPr>
          <p:cNvPr id="18" name="PATIENTS">
            <a:extLst xmlns:a="http://schemas.openxmlformats.org/drawingml/2006/main">
              <a:ext uri="{FF2B5EF4-FFF2-40B4-BE49-F238E27FC236}">
                <a16:creationId xmlns:a16="http://schemas.microsoft.com/office/drawing/2014/main" id="{EF9471AD-4F52-469C-AE80-C0BD0D30AE42}"/>
              </a:ext>
            </a:extLst>
          </p:cNvPr>
          <p:cNvSpPr>
            <a:spLocks xmlns:a="http://schemas.openxmlformats.org/drawingml/2006/main" noGrp="1"/>
          </p:cNvSpPr>
          <p:nvPr/>
        </p:nvSpPr>
        <p:spPr>
          <a:xfrm xmlns:a="http://schemas.openxmlformats.org/drawingml/2006/main">
            <a:off x="8620125" y="33147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9" name="text-18">
            <a:extLst xmlns:a="http://schemas.openxmlformats.org/drawingml/2006/main">
              <a:ext uri="{FF2B5EF4-FFF2-40B4-BE49-F238E27FC236}">
                <a16:creationId xmlns:a16="http://schemas.microsoft.com/office/drawing/2014/main" id="{694CBFCF-BC03-46B6-ADA0-1696088BCC64}"/>
              </a:ext>
            </a:extLst>
          </p:cNvPr>
          <p:cNvSpPr>
            <a:spLocks xmlns:a="http://schemas.openxmlformats.org/drawingml/2006/main" noGrp="1"/>
          </p:cNvSpPr>
          <p:nvPr/>
        </p:nvSpPr>
        <p:spPr>
          <a:xfrm xmlns:a="http://schemas.openxmlformats.org/drawingml/2006/main">
            <a:off x="8715375" y="33909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PATIENTS</a:t>
            </a:r>
          </a:p>
        </p:txBody>
      </p:sp>
      <p:sp>
        <p:nvSpPr>
          <p:cNvPr id="20" name="text-19">
            <a:extLst xmlns:a="http://schemas.openxmlformats.org/drawingml/2006/main">
              <a:ext uri="{FF2B5EF4-FFF2-40B4-BE49-F238E27FC236}">
                <a16:creationId xmlns:a16="http://schemas.microsoft.com/office/drawing/2014/main" id="{D386199B-8B0E-4782-82C8-CDC54EFA49E1}"/>
              </a:ext>
            </a:extLst>
          </p:cNvPr>
          <p:cNvSpPr>
            <a:spLocks xmlns:a="http://schemas.openxmlformats.org/drawingml/2006/main" noGrp="1"/>
          </p:cNvSpPr>
          <p:nvPr/>
        </p:nvSpPr>
        <p:spPr>
          <a:xfrm xmlns:a="http://schemas.openxmlformats.org/drawingml/2006/main">
            <a:off x="8715375" y="37433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patient_id</a:t>
            </a:r>
          </a:p>
        </p:txBody>
      </p:sp>
      <p:sp>
        <p:nvSpPr>
          <p:cNvPr id="21" name="APPOINTMENTS">
            <a:extLst xmlns:a="http://schemas.openxmlformats.org/drawingml/2006/main">
              <a:ext uri="{FF2B5EF4-FFF2-40B4-BE49-F238E27FC236}">
                <a16:creationId xmlns:a16="http://schemas.microsoft.com/office/drawing/2014/main" id="{58619495-686C-445A-A7BD-53C16C4D2CAF}"/>
              </a:ext>
            </a:extLst>
          </p:cNvPr>
          <p:cNvSpPr>
            <a:spLocks xmlns:a="http://schemas.openxmlformats.org/drawingml/2006/main" noGrp="1"/>
          </p:cNvSpPr>
          <p:nvPr/>
        </p:nvSpPr>
        <p:spPr>
          <a:xfrm xmlns:a="http://schemas.openxmlformats.org/drawingml/2006/main">
            <a:off x="4619625" y="521970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22" name="text-21">
            <a:extLst xmlns:a="http://schemas.openxmlformats.org/drawingml/2006/main">
              <a:ext uri="{FF2B5EF4-FFF2-40B4-BE49-F238E27FC236}">
                <a16:creationId xmlns:a16="http://schemas.microsoft.com/office/drawing/2014/main" id="{FC0C644E-8707-4F76-967D-0CCD8F6DB036}"/>
              </a:ext>
            </a:extLst>
          </p:cNvPr>
          <p:cNvSpPr>
            <a:spLocks xmlns:a="http://schemas.openxmlformats.org/drawingml/2006/main" noGrp="1"/>
          </p:cNvSpPr>
          <p:nvPr/>
        </p:nvSpPr>
        <p:spPr>
          <a:xfrm xmlns:a="http://schemas.openxmlformats.org/drawingml/2006/main">
            <a:off x="4714875" y="52959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APPOINTMENTS</a:t>
            </a:r>
          </a:p>
        </p:txBody>
      </p:sp>
      <p:sp>
        <p:nvSpPr>
          <p:cNvPr id="23" name="text-22">
            <a:extLst xmlns:a="http://schemas.openxmlformats.org/drawingml/2006/main">
              <a:ext uri="{FF2B5EF4-FFF2-40B4-BE49-F238E27FC236}">
                <a16:creationId xmlns:a16="http://schemas.microsoft.com/office/drawing/2014/main" id="{13E57B1D-D0B8-42B9-BE30-2B6A02B6A891}"/>
              </a:ext>
            </a:extLst>
          </p:cNvPr>
          <p:cNvSpPr>
            <a:spLocks xmlns:a="http://schemas.openxmlformats.org/drawingml/2006/main" noGrp="1"/>
          </p:cNvSpPr>
          <p:nvPr/>
        </p:nvSpPr>
        <p:spPr>
          <a:xfrm xmlns:a="http://schemas.openxmlformats.org/drawingml/2006/main">
            <a:off x="4714875" y="564832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appointment_id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session_id, patient_id</a:t>
            </a:r>
          </a:p>
        </p:txBody>
      </p:sp>
      <p:sp>
        <p:nvSpPr>
          <p:cNvPr id="25" name="text-24">
            <a:extLst xmlns:a="http://schemas.openxmlformats.org/drawingml/2006/main">
              <a:ext uri="{FF2B5EF4-FFF2-40B4-BE49-F238E27FC236}">
                <a16:creationId xmlns:a16="http://schemas.microsoft.com/office/drawing/2014/main" id="{20A9A674-E711-43EF-A07F-022E4D096598}"/>
              </a:ext>
            </a:extLst>
          </p:cNvPr>
          <p:cNvSpPr>
            <a:spLocks xmlns:a="http://schemas.openxmlformats.org/drawingml/2006/main" noGrp="1"/>
          </p:cNvSpPr>
          <p:nvPr/>
        </p:nvSpPr>
        <p:spPr>
          <a:xfrm xmlns:a="http://schemas.openxmlformats.org/drawingml/2006/main">
            <a:off x="3609975" y="16002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27" name="text-26">
            <a:extLst xmlns:a="http://schemas.openxmlformats.org/drawingml/2006/main">
              <a:ext uri="{FF2B5EF4-FFF2-40B4-BE49-F238E27FC236}">
                <a16:creationId xmlns:a16="http://schemas.microsoft.com/office/drawing/2014/main" id="{35711324-DFEC-4601-A8D0-F7A1036DFA06}"/>
              </a:ext>
            </a:extLst>
          </p:cNvPr>
          <p:cNvSpPr>
            <a:spLocks xmlns:a="http://schemas.openxmlformats.org/drawingml/2006/main" noGrp="1"/>
          </p:cNvSpPr>
          <p:nvPr/>
        </p:nvSpPr>
        <p:spPr>
          <a:xfrm xmlns:a="http://schemas.openxmlformats.org/drawingml/2006/main">
            <a:off x="7648575" y="16002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29" name="text-28">
            <a:extLst xmlns:a="http://schemas.openxmlformats.org/drawingml/2006/main">
              <a:ext uri="{FF2B5EF4-FFF2-40B4-BE49-F238E27FC236}">
                <a16:creationId xmlns:a16="http://schemas.microsoft.com/office/drawing/2014/main" id="{4D07AB9C-7CB6-47CD-B71E-1C27DBC603BD}"/>
              </a:ext>
            </a:extLst>
          </p:cNvPr>
          <p:cNvSpPr>
            <a:spLocks xmlns:a="http://schemas.openxmlformats.org/drawingml/2006/main" noGrp="1"/>
          </p:cNvSpPr>
          <p:nvPr/>
        </p:nvSpPr>
        <p:spPr>
          <a:xfrm xmlns:a="http://schemas.openxmlformats.org/drawingml/2006/main">
            <a:off x="3609975" y="34099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31" name="text-30">
            <a:extLst xmlns:a="http://schemas.openxmlformats.org/drawingml/2006/main">
              <a:ext uri="{FF2B5EF4-FFF2-40B4-BE49-F238E27FC236}">
                <a16:creationId xmlns:a16="http://schemas.microsoft.com/office/drawing/2014/main" id="{E67087F5-ADF7-4D67-97DF-EB9774C38533}"/>
              </a:ext>
            </a:extLst>
          </p:cNvPr>
          <p:cNvSpPr>
            <a:spLocks xmlns:a="http://schemas.openxmlformats.org/drawingml/2006/main" noGrp="1"/>
          </p:cNvSpPr>
          <p:nvPr/>
        </p:nvSpPr>
        <p:spPr>
          <a:xfrm xmlns:a="http://schemas.openxmlformats.org/drawingml/2006/main">
            <a:off x="2095500" y="25717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33" name="text-32">
            <a:extLst xmlns:a="http://schemas.openxmlformats.org/drawingml/2006/main">
              <a:ext uri="{FF2B5EF4-FFF2-40B4-BE49-F238E27FC236}">
                <a16:creationId xmlns:a16="http://schemas.microsoft.com/office/drawing/2014/main" id="{956A4F1D-2C15-42E1-B37F-925A534D8864}"/>
              </a:ext>
            </a:extLst>
          </p:cNvPr>
          <p:cNvSpPr>
            <a:spLocks xmlns:a="http://schemas.openxmlformats.org/drawingml/2006/main" noGrp="1"/>
          </p:cNvSpPr>
          <p:nvPr/>
        </p:nvSpPr>
        <p:spPr>
          <a:xfrm xmlns:a="http://schemas.openxmlformats.org/drawingml/2006/main">
            <a:off x="6191250" y="43624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35" name="text-34">
            <a:extLst xmlns:a="http://schemas.openxmlformats.org/drawingml/2006/main">
              <a:ext uri="{FF2B5EF4-FFF2-40B4-BE49-F238E27FC236}">
                <a16:creationId xmlns:a16="http://schemas.microsoft.com/office/drawing/2014/main" id="{835490E7-D5FF-4DB4-975F-116087A7FB1C}"/>
              </a:ext>
            </a:extLst>
          </p:cNvPr>
          <p:cNvSpPr>
            <a:spLocks xmlns:a="http://schemas.openxmlformats.org/drawingml/2006/main" noGrp="1"/>
          </p:cNvSpPr>
          <p:nvPr/>
        </p:nvSpPr>
        <p:spPr>
          <a:xfrm xmlns:a="http://schemas.openxmlformats.org/drawingml/2006/main">
            <a:off x="9953625" y="44577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Tree>
    <p:extLst>
      <p:ext uri="{BB962C8B-B14F-4D97-AF65-F5344CB8AC3E}">
        <p14:creationId xmlns:p14="http://schemas.microsoft.com/office/powerpoint/2010/main" val="14140095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84430484-AD14-4263-9A4E-543600842A65}"/>
              </a:ext>
            </a:extLst>
          </p:cNvPr>
          <p:cNvCxnSpPr>
            <a:stCxn xmlns:a="http://schemas.openxmlformats.org/drawingml/2006/main" id="12" idx="3"/>
            <a:endCxn xmlns:a="http://schemas.openxmlformats.org/drawingml/2006/main" id="15" idx="1"/>
          </p:cNvCxnSpPr>
          <p:nvPr/>
        </p:nvCxnSpPr>
        <p:spPr>
          <a:xfrm xmlns:a="http://schemas.openxmlformats.org/drawingml/2006/main">
            <a:off x="3571875" y="5743575"/>
            <a:ext cx="1047750" cy="114300"/>
          </a:xfrm>
          <a:prstGeom xmlns:a="http://schemas.openxmlformats.org/drawingml/2006/main" prst="bentConnector3">
            <a:avLst>
              <a:gd name="adj1" fmla="val 50000"/>
            </a:avLst>
          </a:prstGeom>
          <a:ln xmlns:a="http://schemas.openxmlformats.org/drawingml/2006/main" w="19050">
            <a:solidFill>
              <a:srgbClr val="64837C"/>
            </a:solidFill>
            <a:prstDash val="solid"/>
          </a:ln>
        </p:spPr>
      </p:cxnSp>
      <p:cxnSp>
        <p:nvCxnSpPr>
          <p:cNvPr id="27" name="">
            <a:extLst xmlns:a="http://schemas.openxmlformats.org/drawingml/2006/main">
              <a:ext uri="{FF2B5EF4-FFF2-40B4-BE49-F238E27FC236}">
                <a16:creationId xmlns:a16="http://schemas.microsoft.com/office/drawing/2014/main" id="{9A2E52E5-E253-48FE-8203-A5D2AF66E808}"/>
              </a:ext>
            </a:extLst>
          </p:cNvPr>
          <p:cNvCxnSpPr>
            <a:stCxn xmlns:a="http://schemas.openxmlformats.org/drawingml/2006/main" id="18" idx="1"/>
            <a:endCxn xmlns:a="http://schemas.openxmlformats.org/drawingml/2006/main" id="15" idx="3"/>
          </p:cNvCxnSpPr>
          <p:nvPr/>
        </p:nvCxnSpPr>
        <p:spPr>
          <a:xfrm xmlns:a="http://schemas.openxmlformats.org/drawingml/2006/main" flipH="1">
            <a:off x="7572375" y="5743575"/>
            <a:ext cx="1047750" cy="114300"/>
          </a:xfrm>
          <a:prstGeom xmlns:a="http://schemas.openxmlformats.org/drawingml/2006/main" prst="bentConnector3">
            <a:avLst>
              <a:gd name="adj1" fmla="val 50000"/>
            </a:avLst>
          </a:prstGeom>
          <a:ln xmlns:a="http://schemas.openxmlformats.org/drawingml/2006/main" w="19050">
            <a:solidFill>
              <a:srgbClr val="64837C"/>
            </a:solidFill>
            <a:prstDash val="solid"/>
          </a:ln>
        </p:spPr>
      </p:cxnSp>
      <p:cxnSp>
        <p:nvCxnSpPr>
          <p:cNvPr id="25" name="">
            <a:extLst xmlns:a="http://schemas.openxmlformats.org/drawingml/2006/main">
              <a:ext uri="{FF2B5EF4-FFF2-40B4-BE49-F238E27FC236}">
                <a16:creationId xmlns:a16="http://schemas.microsoft.com/office/drawing/2014/main" id="{B3B25B5D-BB13-44DB-A36B-B4C4907F8717}"/>
              </a:ext>
            </a:extLst>
          </p:cNvPr>
          <p:cNvCxnSpPr>
            <a:stCxn xmlns:a="http://schemas.openxmlformats.org/drawingml/2006/main" id="9" idx="2"/>
            <a:endCxn xmlns:a="http://schemas.openxmlformats.org/drawingml/2006/main" id="18" idx="0"/>
          </p:cNvCxnSpPr>
          <p:nvPr/>
        </p:nvCxnSpPr>
        <p:spPr>
          <a:xfrm xmlns:a="http://schemas.openxmlformats.org/drawingml/2006/main">
            <a:off x="10096500" y="4343400"/>
            <a:ext cx="0" cy="895350"/>
          </a:xfrm>
          <a:prstGeom xmlns:a="http://schemas.openxmlformats.org/drawingml/2006/main" prst="straightConnector1">
            <a:avLst/>
          </a:prstGeom>
          <a:ln xmlns:a="http://schemas.openxmlformats.org/drawingml/2006/main" w="19050">
            <a:solidFill>
              <a:srgbClr val="64837C"/>
            </a:solidFill>
            <a:prstDash val="solid"/>
          </a:ln>
        </p:spPr>
      </p:cxnSp>
      <p:cxnSp>
        <p:nvCxnSpPr>
          <p:cNvPr id="23" name="">
            <a:extLst xmlns:a="http://schemas.openxmlformats.org/drawingml/2006/main">
              <a:ext uri="{FF2B5EF4-FFF2-40B4-BE49-F238E27FC236}">
                <a16:creationId xmlns:a16="http://schemas.microsoft.com/office/drawing/2014/main" id="{EB1282BD-984E-4268-B669-AFA20C9B9C70}"/>
              </a:ext>
            </a:extLst>
          </p:cNvPr>
          <p:cNvCxnSpPr>
            <a:stCxn xmlns:a="http://schemas.openxmlformats.org/drawingml/2006/main" id="3" idx="3"/>
            <a:endCxn xmlns:a="http://schemas.openxmlformats.org/drawingml/2006/main" id="9" idx="0"/>
          </p:cNvCxnSpPr>
          <p:nvPr/>
        </p:nvCxnSpPr>
        <p:spPr>
          <a:xfrm xmlns:a="http://schemas.openxmlformats.org/drawingml/2006/main">
            <a:off x="7572375" y="1933575"/>
            <a:ext cx="2524125" cy="1400175"/>
          </a:xfrm>
          <a:prstGeom xmlns:a="http://schemas.openxmlformats.org/drawingml/2006/main" prst="bentConnector2">
            <a:avLst/>
          </a:prstGeom>
          <a:ln xmlns:a="http://schemas.openxmlformats.org/drawingml/2006/main" w="19050">
            <a:solidFill>
              <a:srgbClr val="64837C"/>
            </a:solidFill>
            <a:prstDash val="solid"/>
          </a:ln>
        </p:spPr>
      </p:cxnSp>
      <p:cxnSp>
        <p:nvCxnSpPr>
          <p:cNvPr id="21" name="">
            <a:extLst xmlns:a="http://schemas.openxmlformats.org/drawingml/2006/main">
              <a:ext uri="{FF2B5EF4-FFF2-40B4-BE49-F238E27FC236}">
                <a16:creationId xmlns:a16="http://schemas.microsoft.com/office/drawing/2014/main" id="{73E7B7E1-DA9F-4E46-8F51-043C97DCF02B}"/>
              </a:ext>
            </a:extLst>
          </p:cNvPr>
          <p:cNvCxnSpPr>
            <a:stCxn xmlns:a="http://schemas.openxmlformats.org/drawingml/2006/main" id="3" idx="1"/>
            <a:endCxn xmlns:a="http://schemas.openxmlformats.org/drawingml/2006/main" id="6" idx="0"/>
          </p:cNvCxnSpPr>
          <p:nvPr/>
        </p:nvCxnSpPr>
        <p:spPr>
          <a:xfrm xmlns:a="http://schemas.openxmlformats.org/drawingml/2006/main" flipH="1">
            <a:off x="2095500" y="1933575"/>
            <a:ext cx="2524125" cy="1400175"/>
          </a:xfrm>
          <a:prstGeom xmlns:a="http://schemas.openxmlformats.org/drawingml/2006/main" prst="bentConnector2">
            <a:avLst/>
          </a:prstGeom>
          <a:ln xmlns:a="http://schemas.openxmlformats.org/drawingml/2006/main" w="19050">
            <a:solidFill>
              <a:srgbClr val="64837C"/>
            </a:solidFill>
            <a:prstDash val="solid"/>
          </a:ln>
        </p:spPr>
      </p:cxnSp>
      <p:sp>
        <p:nvSpPr>
          <p:cNvPr id="31" name="text-0">
            <a:extLst xmlns:a="http://schemas.openxmlformats.org/drawingml/2006/main">
              <a:ext uri="{FF2B5EF4-FFF2-40B4-BE49-F238E27FC236}">
                <a16:creationId xmlns:a16="http://schemas.microsoft.com/office/drawing/2014/main" id="{88237BA2-5621-4599-872B-4573CBC266BD}"/>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ER model for clinical records and payments</a:t>
            </a:r>
          </a:p>
        </p:txBody>
      </p:sp>
      <p:sp>
        <p:nvSpPr>
          <p:cNvPr id="2" name="text-1">
            <a:extLst xmlns:a="http://schemas.openxmlformats.org/drawingml/2006/main">
              <a:ext uri="{FF2B5EF4-FFF2-40B4-BE49-F238E27FC236}">
                <a16:creationId xmlns:a16="http://schemas.microsoft.com/office/drawing/2014/main" id="{288DEAE3-BE7F-426E-984D-AA46D159111A}"/>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05</a:t>
            </a:r>
          </a:p>
        </p:txBody>
      </p:sp>
      <p:sp>
        <p:nvSpPr>
          <p:cNvPr id="3" name="APPOINTMENTS">
            <a:extLst xmlns:a="http://schemas.openxmlformats.org/drawingml/2006/main">
              <a:ext uri="{FF2B5EF4-FFF2-40B4-BE49-F238E27FC236}">
                <a16:creationId xmlns:a16="http://schemas.microsoft.com/office/drawing/2014/main" id="{AE4C1B6D-3D1F-4AE1-B3AF-75D4D6017565}"/>
              </a:ext>
            </a:extLst>
          </p:cNvPr>
          <p:cNvSpPr>
            <a:spLocks xmlns:a="http://schemas.openxmlformats.org/drawingml/2006/main" noGrp="1"/>
          </p:cNvSpPr>
          <p:nvPr/>
        </p:nvSpPr>
        <p:spPr>
          <a:xfrm xmlns:a="http://schemas.openxmlformats.org/drawingml/2006/main">
            <a:off x="4619625" y="142875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4" name="text-3">
            <a:extLst xmlns:a="http://schemas.openxmlformats.org/drawingml/2006/main">
              <a:ext uri="{FF2B5EF4-FFF2-40B4-BE49-F238E27FC236}">
                <a16:creationId xmlns:a16="http://schemas.microsoft.com/office/drawing/2014/main" id="{E26531B1-41D2-4449-A3FC-AF2B7AA63D59}"/>
              </a:ext>
            </a:extLst>
          </p:cNvPr>
          <p:cNvSpPr>
            <a:spLocks xmlns:a="http://schemas.openxmlformats.org/drawingml/2006/main" noGrp="1"/>
          </p:cNvSpPr>
          <p:nvPr/>
        </p:nvSpPr>
        <p:spPr>
          <a:xfrm xmlns:a="http://schemas.openxmlformats.org/drawingml/2006/main">
            <a:off x="4714875" y="1504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APPOINTMENTS</a:t>
            </a:r>
          </a:p>
        </p:txBody>
      </p:sp>
      <p:sp>
        <p:nvSpPr>
          <p:cNvPr id="5" name="text-4">
            <a:extLst xmlns:a="http://schemas.openxmlformats.org/drawingml/2006/main">
              <a:ext uri="{FF2B5EF4-FFF2-40B4-BE49-F238E27FC236}">
                <a16:creationId xmlns:a16="http://schemas.microsoft.com/office/drawing/2014/main" id="{F5851B53-90F8-4648-B25B-999DEF09A1EC}"/>
              </a:ext>
            </a:extLst>
          </p:cNvPr>
          <p:cNvSpPr>
            <a:spLocks xmlns:a="http://schemas.openxmlformats.org/drawingml/2006/main" noGrp="1"/>
          </p:cNvSpPr>
          <p:nvPr/>
        </p:nvSpPr>
        <p:spPr>
          <a:xfrm xmlns:a="http://schemas.openxmlformats.org/drawingml/2006/main">
            <a:off x="4714875" y="185737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appointment_id</a:t>
            </a:r>
          </a:p>
        </p:txBody>
      </p:sp>
      <p:sp>
        <p:nvSpPr>
          <p:cNvPr id="6" name="PAYMENTS">
            <a:extLst xmlns:a="http://schemas.openxmlformats.org/drawingml/2006/main">
              <a:ext uri="{FF2B5EF4-FFF2-40B4-BE49-F238E27FC236}">
                <a16:creationId xmlns:a16="http://schemas.microsoft.com/office/drawing/2014/main" id="{3BA47B60-1F9D-4F07-9A15-1B405853DDFB}"/>
              </a:ext>
            </a:extLst>
          </p:cNvPr>
          <p:cNvSpPr>
            <a:spLocks xmlns:a="http://schemas.openxmlformats.org/drawingml/2006/main" noGrp="1"/>
          </p:cNvSpPr>
          <p:nvPr/>
        </p:nvSpPr>
        <p:spPr>
          <a:xfrm xmlns:a="http://schemas.openxmlformats.org/drawingml/2006/main">
            <a:off x="619125" y="333375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7" name="text-6">
            <a:extLst xmlns:a="http://schemas.openxmlformats.org/drawingml/2006/main">
              <a:ext uri="{FF2B5EF4-FFF2-40B4-BE49-F238E27FC236}">
                <a16:creationId xmlns:a16="http://schemas.microsoft.com/office/drawing/2014/main" id="{1E5F8B3F-1FBC-4071-AB39-6B0B45B8F055}"/>
              </a:ext>
            </a:extLst>
          </p:cNvPr>
          <p:cNvSpPr>
            <a:spLocks xmlns:a="http://schemas.openxmlformats.org/drawingml/2006/main" noGrp="1"/>
          </p:cNvSpPr>
          <p:nvPr/>
        </p:nvSpPr>
        <p:spPr>
          <a:xfrm xmlns:a="http://schemas.openxmlformats.org/drawingml/2006/main">
            <a:off x="714375" y="3409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PAYMENTS</a:t>
            </a:r>
          </a:p>
        </p:txBody>
      </p:sp>
      <p:sp>
        <p:nvSpPr>
          <p:cNvPr id="8" name="text-7">
            <a:extLst xmlns:a="http://schemas.openxmlformats.org/drawingml/2006/main">
              <a:ext uri="{FF2B5EF4-FFF2-40B4-BE49-F238E27FC236}">
                <a16:creationId xmlns:a16="http://schemas.microsoft.com/office/drawing/2014/main" id="{6D45B8D0-975F-4FF6-8A16-FF80FED69973}"/>
              </a:ext>
            </a:extLst>
          </p:cNvPr>
          <p:cNvSpPr>
            <a:spLocks xmlns:a="http://schemas.openxmlformats.org/drawingml/2006/main" noGrp="1"/>
          </p:cNvSpPr>
          <p:nvPr/>
        </p:nvSpPr>
        <p:spPr>
          <a:xfrm xmlns:a="http://schemas.openxmlformats.org/drawingml/2006/main">
            <a:off x="714375" y="376237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payment_id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appointment_id</a:t>
            </a:r>
          </a:p>
        </p:txBody>
      </p:sp>
      <p:sp>
        <p:nvSpPr>
          <p:cNvPr id="9" name="CONSULTATIONS">
            <a:extLst xmlns:a="http://schemas.openxmlformats.org/drawingml/2006/main">
              <a:ext uri="{FF2B5EF4-FFF2-40B4-BE49-F238E27FC236}">
                <a16:creationId xmlns:a16="http://schemas.microsoft.com/office/drawing/2014/main" id="{947CD85A-56DA-4C0B-950F-AC0B88743A51}"/>
              </a:ext>
            </a:extLst>
          </p:cNvPr>
          <p:cNvSpPr>
            <a:spLocks xmlns:a="http://schemas.openxmlformats.org/drawingml/2006/main" noGrp="1"/>
          </p:cNvSpPr>
          <p:nvPr/>
        </p:nvSpPr>
        <p:spPr>
          <a:xfrm xmlns:a="http://schemas.openxmlformats.org/drawingml/2006/main">
            <a:off x="8620125" y="333375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0" name="text-9">
            <a:extLst xmlns:a="http://schemas.openxmlformats.org/drawingml/2006/main">
              <a:ext uri="{FF2B5EF4-FFF2-40B4-BE49-F238E27FC236}">
                <a16:creationId xmlns:a16="http://schemas.microsoft.com/office/drawing/2014/main" id="{5F275023-56B7-4391-9703-6582DF567C64}"/>
              </a:ext>
            </a:extLst>
          </p:cNvPr>
          <p:cNvSpPr>
            <a:spLocks xmlns:a="http://schemas.openxmlformats.org/drawingml/2006/main" noGrp="1"/>
          </p:cNvSpPr>
          <p:nvPr/>
        </p:nvSpPr>
        <p:spPr>
          <a:xfrm xmlns:a="http://schemas.openxmlformats.org/drawingml/2006/main">
            <a:off x="8715375" y="3409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CONSULTATIONS</a:t>
            </a:r>
          </a:p>
        </p:txBody>
      </p:sp>
      <p:sp>
        <p:nvSpPr>
          <p:cNvPr id="11" name="text-10">
            <a:extLst xmlns:a="http://schemas.openxmlformats.org/drawingml/2006/main">
              <a:ext uri="{FF2B5EF4-FFF2-40B4-BE49-F238E27FC236}">
                <a16:creationId xmlns:a16="http://schemas.microsoft.com/office/drawing/2014/main" id="{299AD1D8-A168-4325-B167-B2E750F67B2A}"/>
              </a:ext>
            </a:extLst>
          </p:cNvPr>
          <p:cNvSpPr>
            <a:spLocks xmlns:a="http://schemas.openxmlformats.org/drawingml/2006/main" noGrp="1"/>
          </p:cNvSpPr>
          <p:nvPr/>
        </p:nvSpPr>
        <p:spPr>
          <a:xfrm xmlns:a="http://schemas.openxmlformats.org/drawingml/2006/main">
            <a:off x="8715375" y="376237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consultation_id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UK appointment_id</a:t>
            </a:r>
          </a:p>
        </p:txBody>
      </p:sp>
      <p:sp>
        <p:nvSpPr>
          <p:cNvPr id="12" name="MEDICINES">
            <a:extLst xmlns:a="http://schemas.openxmlformats.org/drawingml/2006/main">
              <a:ext uri="{FF2B5EF4-FFF2-40B4-BE49-F238E27FC236}">
                <a16:creationId xmlns:a16="http://schemas.microsoft.com/office/drawing/2014/main" id="{6077DE33-F926-44C1-8294-851FE8AF77FE}"/>
              </a:ext>
            </a:extLst>
          </p:cNvPr>
          <p:cNvSpPr>
            <a:spLocks xmlns:a="http://schemas.openxmlformats.org/drawingml/2006/main" noGrp="1"/>
          </p:cNvSpPr>
          <p:nvPr/>
        </p:nvSpPr>
        <p:spPr>
          <a:xfrm xmlns:a="http://schemas.openxmlformats.org/drawingml/2006/main">
            <a:off x="619125" y="523875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3" name="text-12">
            <a:extLst xmlns:a="http://schemas.openxmlformats.org/drawingml/2006/main">
              <a:ext uri="{FF2B5EF4-FFF2-40B4-BE49-F238E27FC236}">
                <a16:creationId xmlns:a16="http://schemas.microsoft.com/office/drawing/2014/main" id="{93EFF75B-4983-46A6-8D4C-4263E02C35CA}"/>
              </a:ext>
            </a:extLst>
          </p:cNvPr>
          <p:cNvSpPr>
            <a:spLocks xmlns:a="http://schemas.openxmlformats.org/drawingml/2006/main" noGrp="1"/>
          </p:cNvSpPr>
          <p:nvPr/>
        </p:nvSpPr>
        <p:spPr>
          <a:xfrm xmlns:a="http://schemas.openxmlformats.org/drawingml/2006/main">
            <a:off x="714375" y="5314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MEDICINES</a:t>
            </a:r>
          </a:p>
        </p:txBody>
      </p:sp>
      <p:sp>
        <p:nvSpPr>
          <p:cNvPr id="14" name="text-13">
            <a:extLst xmlns:a="http://schemas.openxmlformats.org/drawingml/2006/main">
              <a:ext uri="{FF2B5EF4-FFF2-40B4-BE49-F238E27FC236}">
                <a16:creationId xmlns:a16="http://schemas.microsoft.com/office/drawing/2014/main" id="{2453C4A3-BC93-420C-A446-58EDE9890E88}"/>
              </a:ext>
            </a:extLst>
          </p:cNvPr>
          <p:cNvSpPr>
            <a:spLocks xmlns:a="http://schemas.openxmlformats.org/drawingml/2006/main" noGrp="1"/>
          </p:cNvSpPr>
          <p:nvPr/>
        </p:nvSpPr>
        <p:spPr>
          <a:xfrm xmlns:a="http://schemas.openxmlformats.org/drawingml/2006/main">
            <a:off x="714375" y="566737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medicine_id</a:t>
            </a:r>
          </a:p>
        </p:txBody>
      </p:sp>
      <p:sp>
        <p:nvSpPr>
          <p:cNvPr id="15" name="PRESCRIPTION_ITEMS">
            <a:extLst xmlns:a="http://schemas.openxmlformats.org/drawingml/2006/main">
              <a:ext uri="{FF2B5EF4-FFF2-40B4-BE49-F238E27FC236}">
                <a16:creationId xmlns:a16="http://schemas.microsoft.com/office/drawing/2014/main" id="{54E76DA2-B57B-44F0-AB1E-5FB0B56336C5}"/>
              </a:ext>
            </a:extLst>
          </p:cNvPr>
          <p:cNvSpPr>
            <a:spLocks xmlns:a="http://schemas.openxmlformats.org/drawingml/2006/main" noGrp="1"/>
          </p:cNvSpPr>
          <p:nvPr/>
        </p:nvSpPr>
        <p:spPr>
          <a:xfrm xmlns:a="http://schemas.openxmlformats.org/drawingml/2006/main">
            <a:off x="4619625" y="5238750"/>
            <a:ext cx="2952750" cy="12382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6" name="text-15">
            <a:extLst xmlns:a="http://schemas.openxmlformats.org/drawingml/2006/main">
              <a:ext uri="{FF2B5EF4-FFF2-40B4-BE49-F238E27FC236}">
                <a16:creationId xmlns:a16="http://schemas.microsoft.com/office/drawing/2014/main" id="{53D0D247-0430-46FB-9461-EA5D75D6C7EC}"/>
              </a:ext>
            </a:extLst>
          </p:cNvPr>
          <p:cNvSpPr>
            <a:spLocks xmlns:a="http://schemas.openxmlformats.org/drawingml/2006/main" noGrp="1"/>
          </p:cNvSpPr>
          <p:nvPr/>
        </p:nvSpPr>
        <p:spPr>
          <a:xfrm xmlns:a="http://schemas.openxmlformats.org/drawingml/2006/main">
            <a:off x="4714875" y="5314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73D38"/>
                </a:solidFill>
                <a:latin typeface="DejaVu Sans"/>
                <a:ea typeface="DejaVu Sans"/>
                <a:cs typeface="DejaVu Sans"/>
              </a:defRPr>
            </a:defPPr>
            <a:lvl1pPr>
              <a:defRPr sz="1350" b="1">
                <a:solidFill>
                  <a:srgbClr val="173D38"/>
                </a:solidFill>
                <a:latin typeface="DejaVu Sans"/>
                <a:ea typeface="DejaVu Sans"/>
                <a:cs typeface="DejaVu Sans"/>
              </a:defRPr>
            </a:lvl1pPr>
            <a:lvl2pPr>
              <a:defRPr sz="1350" b="1">
                <a:solidFill>
                  <a:srgbClr val="173D38"/>
                </a:solidFill>
                <a:latin typeface="DejaVu Sans"/>
                <a:ea typeface="DejaVu Sans"/>
                <a:cs typeface="DejaVu Sans"/>
              </a:defRPr>
            </a:lvl2pPr>
            <a:lvl3pPr>
              <a:defRPr sz="1350" b="1">
                <a:solidFill>
                  <a:srgbClr val="173D38"/>
                </a:solidFill>
                <a:latin typeface="DejaVu Sans"/>
                <a:ea typeface="DejaVu Sans"/>
                <a:cs typeface="DejaVu Sans"/>
              </a:defRPr>
            </a:lvl3pPr>
            <a:lvl4pPr>
              <a:defRPr sz="1350" b="1">
                <a:solidFill>
                  <a:srgbClr val="173D38"/>
                </a:solidFill>
                <a:latin typeface="DejaVu Sans"/>
                <a:ea typeface="DejaVu Sans"/>
                <a:cs typeface="DejaVu Sans"/>
              </a:defRPr>
            </a:lvl4pPr>
            <a:lvl5pPr>
              <a:defRPr sz="1350" b="1">
                <a:solidFill>
                  <a:srgbClr val="173D38"/>
                </a:solidFill>
                <a:latin typeface="DejaVu Sans"/>
                <a:ea typeface="DejaVu Sans"/>
                <a:cs typeface="DejaVu Sans"/>
              </a:defRPr>
            </a:lvl5pPr>
            <a:lvl6pPr>
              <a:defRPr sz="1350" b="1">
                <a:solidFill>
                  <a:srgbClr val="173D38"/>
                </a:solidFill>
                <a:latin typeface="DejaVu Sans"/>
                <a:ea typeface="DejaVu Sans"/>
                <a:cs typeface="DejaVu Sans"/>
              </a:defRPr>
            </a:lvl6pPr>
            <a:lvl7pPr>
              <a:defRPr sz="1350" b="1">
                <a:solidFill>
                  <a:srgbClr val="173D38"/>
                </a:solidFill>
                <a:latin typeface="DejaVu Sans"/>
                <a:ea typeface="DejaVu Sans"/>
                <a:cs typeface="DejaVu Sans"/>
              </a:defRPr>
            </a:lvl7pPr>
            <a:lvl8pPr>
              <a:defRPr sz="1350" b="1">
                <a:solidFill>
                  <a:srgbClr val="173D38"/>
                </a:solidFill>
                <a:latin typeface="DejaVu Sans"/>
                <a:ea typeface="DejaVu Sans"/>
                <a:cs typeface="DejaVu Sans"/>
              </a:defRPr>
            </a:lvl8pPr>
            <a:lvl9pPr>
              <a:defRPr sz="1350" b="1">
                <a:solidFill>
                  <a:srgbClr val="173D38"/>
                </a:solidFill>
                <a:latin typeface="DejaVu Sans"/>
                <a:ea typeface="DejaVu Sans"/>
                <a:cs typeface="DejaVu Sans"/>
              </a:defRPr>
            </a:lvl9pPr>
          </a:lstStyle>
          <a:p xmlns:a="http://schemas.openxmlformats.org/drawingml/2006/main">
            <a:pPr>
              <a:defRPr sz="1350" b="1">
                <a:solidFill>
                  <a:srgbClr val="173D38"/>
                </a:solidFill>
                <a:latin typeface="DejaVu Sans"/>
                <a:ea typeface="DejaVu Sans"/>
                <a:cs typeface="DejaVu Sans"/>
              </a:defRPr>
            </a:pPr>
            <a:r>
              <a:rPr sz="1350" b="1">
                <a:solidFill>
                  <a:srgbClr val="173D38"/>
                </a:solidFill>
                <a:latin typeface="DejaVu Sans"/>
                <a:ea typeface="DejaVu Sans"/>
                <a:cs typeface="DejaVu Sans"/>
              </a:rPr>
              <a:t>PRESCRIPTION_ITEMS</a:t>
            </a:r>
          </a:p>
        </p:txBody>
      </p:sp>
      <p:sp>
        <p:nvSpPr>
          <p:cNvPr id="17" name="text-16">
            <a:extLst xmlns:a="http://schemas.openxmlformats.org/drawingml/2006/main">
              <a:ext uri="{FF2B5EF4-FFF2-40B4-BE49-F238E27FC236}">
                <a16:creationId xmlns:a16="http://schemas.microsoft.com/office/drawing/2014/main" id="{2AFB0DD9-821D-4532-A481-158229E16F16}"/>
              </a:ext>
            </a:extLst>
          </p:cNvPr>
          <p:cNvSpPr>
            <a:spLocks xmlns:a="http://schemas.openxmlformats.org/drawingml/2006/main" noGrp="1"/>
          </p:cNvSpPr>
          <p:nvPr/>
        </p:nvSpPr>
        <p:spPr>
          <a:xfrm xmlns:a="http://schemas.openxmlformats.org/drawingml/2006/main">
            <a:off x="4714875" y="5667375"/>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FK prescription_id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line_no</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medicine_id</a:t>
            </a:r>
          </a:p>
        </p:txBody>
      </p:sp>
      <p:sp>
        <p:nvSpPr>
          <p:cNvPr id="18" name="PRESCRIPTIONS">
            <a:extLst xmlns:a="http://schemas.openxmlformats.org/drawingml/2006/main">
              <a:ext uri="{FF2B5EF4-FFF2-40B4-BE49-F238E27FC236}">
                <a16:creationId xmlns:a16="http://schemas.microsoft.com/office/drawing/2014/main" id="{29ADF35F-9CFF-4832-9F66-7143C371D1D0}"/>
              </a:ext>
            </a:extLst>
          </p:cNvPr>
          <p:cNvSpPr>
            <a:spLocks xmlns:a="http://schemas.openxmlformats.org/drawingml/2006/main" noGrp="1"/>
          </p:cNvSpPr>
          <p:nvPr/>
        </p:nvSpPr>
        <p:spPr>
          <a:xfrm xmlns:a="http://schemas.openxmlformats.org/drawingml/2006/main">
            <a:off x="8620125" y="5238750"/>
            <a:ext cx="2952750" cy="1009650"/>
          </a:xfrm>
          <a:prstGeom xmlns:a="http://schemas.openxmlformats.org/drawingml/2006/main" prst="rect">
            <a:avLst/>
          </a:prstGeom>
          <a:solidFill xmlns:a="http://schemas.openxmlformats.org/drawingml/2006/main">
            <a:srgbClr val="EDF5F2"/>
          </a:solidFill>
          <a:ln xmlns:a="http://schemas.openxmlformats.org/drawingml/2006/main" w="14288">
            <a:solidFill>
              <a:srgbClr val="64837C"/>
            </a:solidFill>
            <a:prstDash val="solid"/>
          </a:ln>
        </p:spPr>
      </p:sp>
      <p:sp>
        <p:nvSpPr>
          <p:cNvPr id="19" name="text-18">
            <a:extLst xmlns:a="http://schemas.openxmlformats.org/drawingml/2006/main">
              <a:ext uri="{FF2B5EF4-FFF2-40B4-BE49-F238E27FC236}">
                <a16:creationId xmlns:a16="http://schemas.microsoft.com/office/drawing/2014/main" id="{61FB1857-4E6C-422C-8322-899997485A39}"/>
              </a:ext>
            </a:extLst>
          </p:cNvPr>
          <p:cNvSpPr>
            <a:spLocks xmlns:a="http://schemas.openxmlformats.org/drawingml/2006/main" noGrp="1"/>
          </p:cNvSpPr>
          <p:nvPr/>
        </p:nvSpPr>
        <p:spPr>
          <a:xfrm xmlns:a="http://schemas.openxmlformats.org/drawingml/2006/main">
            <a:off x="8715375" y="53149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73D38"/>
                </a:solidFill>
                <a:latin typeface="DejaVu Sans"/>
                <a:ea typeface="DejaVu Sans"/>
                <a:cs typeface="DejaVu Sans"/>
              </a:defRPr>
            </a:defPPr>
            <a:lvl1pPr>
              <a:defRPr sz="1800" b="1">
                <a:solidFill>
                  <a:srgbClr val="173D38"/>
                </a:solidFill>
                <a:latin typeface="DejaVu Sans"/>
                <a:ea typeface="DejaVu Sans"/>
                <a:cs typeface="DejaVu Sans"/>
              </a:defRPr>
            </a:lvl1pPr>
            <a:lvl2pPr>
              <a:defRPr sz="1800" b="1">
                <a:solidFill>
                  <a:srgbClr val="173D38"/>
                </a:solidFill>
                <a:latin typeface="DejaVu Sans"/>
                <a:ea typeface="DejaVu Sans"/>
                <a:cs typeface="DejaVu Sans"/>
              </a:defRPr>
            </a:lvl2pPr>
            <a:lvl3pPr>
              <a:defRPr sz="1800" b="1">
                <a:solidFill>
                  <a:srgbClr val="173D38"/>
                </a:solidFill>
                <a:latin typeface="DejaVu Sans"/>
                <a:ea typeface="DejaVu Sans"/>
                <a:cs typeface="DejaVu Sans"/>
              </a:defRPr>
            </a:lvl3pPr>
            <a:lvl4pPr>
              <a:defRPr sz="1800" b="1">
                <a:solidFill>
                  <a:srgbClr val="173D38"/>
                </a:solidFill>
                <a:latin typeface="DejaVu Sans"/>
                <a:ea typeface="DejaVu Sans"/>
                <a:cs typeface="DejaVu Sans"/>
              </a:defRPr>
            </a:lvl4pPr>
            <a:lvl5pPr>
              <a:defRPr sz="1800" b="1">
                <a:solidFill>
                  <a:srgbClr val="173D38"/>
                </a:solidFill>
                <a:latin typeface="DejaVu Sans"/>
                <a:ea typeface="DejaVu Sans"/>
                <a:cs typeface="DejaVu Sans"/>
              </a:defRPr>
            </a:lvl5pPr>
            <a:lvl6pPr>
              <a:defRPr sz="1800" b="1">
                <a:solidFill>
                  <a:srgbClr val="173D38"/>
                </a:solidFill>
                <a:latin typeface="DejaVu Sans"/>
                <a:ea typeface="DejaVu Sans"/>
                <a:cs typeface="DejaVu Sans"/>
              </a:defRPr>
            </a:lvl6pPr>
            <a:lvl7pPr>
              <a:defRPr sz="1800" b="1">
                <a:solidFill>
                  <a:srgbClr val="173D38"/>
                </a:solidFill>
                <a:latin typeface="DejaVu Sans"/>
                <a:ea typeface="DejaVu Sans"/>
                <a:cs typeface="DejaVu Sans"/>
              </a:defRPr>
            </a:lvl7pPr>
            <a:lvl8pPr>
              <a:defRPr sz="1800" b="1">
                <a:solidFill>
                  <a:srgbClr val="173D38"/>
                </a:solidFill>
                <a:latin typeface="DejaVu Sans"/>
                <a:ea typeface="DejaVu Sans"/>
                <a:cs typeface="DejaVu Sans"/>
              </a:defRPr>
            </a:lvl8pPr>
            <a:lvl9pPr>
              <a:defRPr sz="1800" b="1">
                <a:solidFill>
                  <a:srgbClr val="173D38"/>
                </a:solidFill>
                <a:latin typeface="DejaVu Sans"/>
                <a:ea typeface="DejaVu Sans"/>
                <a:cs typeface="DejaVu Sans"/>
              </a:defRPr>
            </a:lvl9pPr>
          </a:lstStyle>
          <a:p xmlns:a="http://schemas.openxmlformats.org/drawingml/2006/main">
            <a:pPr>
              <a:defRPr sz="1800" b="1">
                <a:solidFill>
                  <a:srgbClr val="173D38"/>
                </a:solidFill>
                <a:latin typeface="DejaVu Sans"/>
                <a:ea typeface="DejaVu Sans"/>
                <a:cs typeface="DejaVu Sans"/>
              </a:defRPr>
            </a:pPr>
            <a:r>
              <a:rPr sz="1800" b="1">
                <a:solidFill>
                  <a:srgbClr val="173D38"/>
                </a:solidFill>
                <a:latin typeface="DejaVu Sans"/>
                <a:ea typeface="DejaVu Sans"/>
                <a:cs typeface="DejaVu Sans"/>
              </a:rPr>
              <a:t>PRESCRIPTIONS</a:t>
            </a:r>
          </a:p>
        </p:txBody>
      </p:sp>
      <p:sp>
        <p:nvSpPr>
          <p:cNvPr id="20" name="text-19">
            <a:extLst xmlns:a="http://schemas.openxmlformats.org/drawingml/2006/main">
              <a:ext uri="{FF2B5EF4-FFF2-40B4-BE49-F238E27FC236}">
                <a16:creationId xmlns:a16="http://schemas.microsoft.com/office/drawing/2014/main" id="{96DDCAD0-F64D-4912-B4A6-1C2A75752E08}"/>
              </a:ext>
            </a:extLst>
          </p:cNvPr>
          <p:cNvSpPr>
            <a:spLocks xmlns:a="http://schemas.openxmlformats.org/drawingml/2006/main" noGrp="1"/>
          </p:cNvSpPr>
          <p:nvPr/>
        </p:nvSpPr>
        <p:spPr>
          <a:xfrm xmlns:a="http://schemas.openxmlformats.org/drawingml/2006/main">
            <a:off x="8715375" y="5667375"/>
            <a:ext cx="2762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D38"/>
                </a:solidFill>
                <a:latin typeface="DejaVu Sans"/>
                <a:ea typeface="DejaVu Sans"/>
                <a:cs typeface="DejaVu Sans"/>
              </a:defRPr>
            </a:defPPr>
            <a:lvl1pPr>
              <a:defRPr sz="1500" b="0">
                <a:solidFill>
                  <a:srgbClr val="173D38"/>
                </a:solidFill>
                <a:latin typeface="DejaVu Sans"/>
                <a:ea typeface="DejaVu Sans"/>
                <a:cs typeface="DejaVu Sans"/>
              </a:defRPr>
            </a:lvl1pPr>
            <a:lvl2pPr>
              <a:defRPr sz="1500" b="0">
                <a:solidFill>
                  <a:srgbClr val="173D38"/>
                </a:solidFill>
                <a:latin typeface="DejaVu Sans"/>
                <a:ea typeface="DejaVu Sans"/>
                <a:cs typeface="DejaVu Sans"/>
              </a:defRPr>
            </a:lvl2pPr>
            <a:lvl3pPr>
              <a:defRPr sz="1500" b="0">
                <a:solidFill>
                  <a:srgbClr val="173D38"/>
                </a:solidFill>
                <a:latin typeface="DejaVu Sans"/>
                <a:ea typeface="DejaVu Sans"/>
                <a:cs typeface="DejaVu Sans"/>
              </a:defRPr>
            </a:lvl3pPr>
            <a:lvl4pPr>
              <a:defRPr sz="1500" b="0">
                <a:solidFill>
                  <a:srgbClr val="173D38"/>
                </a:solidFill>
                <a:latin typeface="DejaVu Sans"/>
                <a:ea typeface="DejaVu Sans"/>
                <a:cs typeface="DejaVu Sans"/>
              </a:defRPr>
            </a:lvl4pPr>
            <a:lvl5pPr>
              <a:defRPr sz="1500" b="0">
                <a:solidFill>
                  <a:srgbClr val="173D38"/>
                </a:solidFill>
                <a:latin typeface="DejaVu Sans"/>
                <a:ea typeface="DejaVu Sans"/>
                <a:cs typeface="DejaVu Sans"/>
              </a:defRPr>
            </a:lvl5pPr>
            <a:lvl6pPr>
              <a:defRPr sz="1500" b="0">
                <a:solidFill>
                  <a:srgbClr val="173D38"/>
                </a:solidFill>
                <a:latin typeface="DejaVu Sans"/>
                <a:ea typeface="DejaVu Sans"/>
                <a:cs typeface="DejaVu Sans"/>
              </a:defRPr>
            </a:lvl6pPr>
            <a:lvl7pPr>
              <a:defRPr sz="1500" b="0">
                <a:solidFill>
                  <a:srgbClr val="173D38"/>
                </a:solidFill>
                <a:latin typeface="DejaVu Sans"/>
                <a:ea typeface="DejaVu Sans"/>
                <a:cs typeface="DejaVu Sans"/>
              </a:defRPr>
            </a:lvl7pPr>
            <a:lvl8pPr>
              <a:defRPr sz="1500" b="0">
                <a:solidFill>
                  <a:srgbClr val="173D38"/>
                </a:solidFill>
                <a:latin typeface="DejaVu Sans"/>
                <a:ea typeface="DejaVu Sans"/>
                <a:cs typeface="DejaVu Sans"/>
              </a:defRPr>
            </a:lvl8pPr>
            <a:lvl9pPr>
              <a:defRPr sz="1500" b="0">
                <a:solidFill>
                  <a:srgbClr val="173D38"/>
                </a:solidFill>
                <a:latin typeface="DejaVu Sans"/>
                <a:ea typeface="DejaVu Sans"/>
                <a:cs typeface="DejaVu Sans"/>
              </a:defRPr>
            </a:lvl9pPr>
          </a:lstStyle>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PK prescription_id</a:t>
            </a:r>
          </a:p>
          <a:p xmlns:a="http://schemas.openxmlformats.org/drawingml/2006/main">
            <a:pPr>
              <a:defRPr sz="1500" b="0">
                <a:solidFill>
                  <a:srgbClr val="173D38"/>
                </a:solidFill>
                <a:latin typeface="DejaVu Sans"/>
                <a:ea typeface="DejaVu Sans"/>
                <a:cs typeface="DejaVu Sans"/>
              </a:defRPr>
            </a:pPr>
            <a:r>
              <a:rPr sz="1500" b="0">
                <a:solidFill>
                  <a:srgbClr val="173D38"/>
                </a:solidFill>
                <a:latin typeface="DejaVu Sans"/>
                <a:ea typeface="DejaVu Sans"/>
                <a:cs typeface="DejaVu Sans"/>
              </a:rPr>
              <a:t>FK UK consultation_id</a:t>
            </a:r>
          </a:p>
        </p:txBody>
      </p:sp>
      <p:sp>
        <p:nvSpPr>
          <p:cNvPr id="22" name="text-21">
            <a:extLst xmlns:a="http://schemas.openxmlformats.org/drawingml/2006/main">
              <a:ext uri="{FF2B5EF4-FFF2-40B4-BE49-F238E27FC236}">
                <a16:creationId xmlns:a16="http://schemas.microsoft.com/office/drawing/2014/main" id="{7569F4DF-AFC8-4513-80C6-B65B82EF38D0}"/>
              </a:ext>
            </a:extLst>
          </p:cNvPr>
          <p:cNvSpPr>
            <a:spLocks xmlns:a="http://schemas.openxmlformats.org/drawingml/2006/main" noGrp="1"/>
          </p:cNvSpPr>
          <p:nvPr/>
        </p:nvSpPr>
        <p:spPr>
          <a:xfrm xmlns:a="http://schemas.openxmlformats.org/drawingml/2006/main">
            <a:off x="2286000" y="25336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24" name="text-23">
            <a:extLst xmlns:a="http://schemas.openxmlformats.org/drawingml/2006/main">
              <a:ext uri="{FF2B5EF4-FFF2-40B4-BE49-F238E27FC236}">
                <a16:creationId xmlns:a16="http://schemas.microsoft.com/office/drawing/2014/main" id="{2A29946B-453A-4983-8DB4-E855D4BEEB05}"/>
              </a:ext>
            </a:extLst>
          </p:cNvPr>
          <p:cNvSpPr>
            <a:spLocks xmlns:a="http://schemas.openxmlformats.org/drawingml/2006/main" noGrp="1"/>
          </p:cNvSpPr>
          <p:nvPr/>
        </p:nvSpPr>
        <p:spPr>
          <a:xfrm xmlns:a="http://schemas.openxmlformats.org/drawingml/2006/main">
            <a:off x="10287000" y="25336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0..1</a:t>
            </a:r>
          </a:p>
        </p:txBody>
      </p:sp>
      <p:sp>
        <p:nvSpPr>
          <p:cNvPr id="26" name="text-25">
            <a:extLst xmlns:a="http://schemas.openxmlformats.org/drawingml/2006/main">
              <a:ext uri="{FF2B5EF4-FFF2-40B4-BE49-F238E27FC236}">
                <a16:creationId xmlns:a16="http://schemas.microsoft.com/office/drawing/2014/main" id="{0E851422-EE6B-4852-BED8-FC617C0CC4B6}"/>
              </a:ext>
            </a:extLst>
          </p:cNvPr>
          <p:cNvSpPr>
            <a:spLocks xmlns:a="http://schemas.openxmlformats.org/drawingml/2006/main" noGrp="1"/>
          </p:cNvSpPr>
          <p:nvPr/>
        </p:nvSpPr>
        <p:spPr>
          <a:xfrm xmlns:a="http://schemas.openxmlformats.org/drawingml/2006/main">
            <a:off x="10287000" y="44291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0..1</a:t>
            </a:r>
          </a:p>
        </p:txBody>
      </p:sp>
      <p:sp>
        <p:nvSpPr>
          <p:cNvPr id="28" name="text-27">
            <a:extLst xmlns:a="http://schemas.openxmlformats.org/drawingml/2006/main">
              <a:ext uri="{FF2B5EF4-FFF2-40B4-BE49-F238E27FC236}">
                <a16:creationId xmlns:a16="http://schemas.microsoft.com/office/drawing/2014/main" id="{09023369-1655-4D39-85DB-14AD880B2ED0}"/>
              </a:ext>
            </a:extLst>
          </p:cNvPr>
          <p:cNvSpPr>
            <a:spLocks xmlns:a="http://schemas.openxmlformats.org/drawingml/2006/main" noGrp="1"/>
          </p:cNvSpPr>
          <p:nvPr/>
        </p:nvSpPr>
        <p:spPr>
          <a:xfrm xmlns:a="http://schemas.openxmlformats.org/drawingml/2006/main">
            <a:off x="7620000" y="53149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
        <p:nvSpPr>
          <p:cNvPr id="30" name="text-29">
            <a:extLst xmlns:a="http://schemas.openxmlformats.org/drawingml/2006/main">
              <a:ext uri="{FF2B5EF4-FFF2-40B4-BE49-F238E27FC236}">
                <a16:creationId xmlns:a16="http://schemas.microsoft.com/office/drawing/2014/main" id="{8AE90E37-6ECB-4766-A4BA-BD7CD23ECA84}"/>
              </a:ext>
            </a:extLst>
          </p:cNvPr>
          <p:cNvSpPr>
            <a:spLocks xmlns:a="http://schemas.openxmlformats.org/drawingml/2006/main" noGrp="1"/>
          </p:cNvSpPr>
          <p:nvPr/>
        </p:nvSpPr>
        <p:spPr>
          <a:xfrm xmlns:a="http://schemas.openxmlformats.org/drawingml/2006/main">
            <a:off x="3600450" y="53149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3D38"/>
                </a:solidFill>
                <a:latin typeface="DejaVu Sans"/>
                <a:ea typeface="DejaVu Sans"/>
                <a:cs typeface="DejaVu Sans"/>
              </a:defRPr>
            </a:defPPr>
            <a:lvl1pPr>
              <a:defRPr sz="1575" b="1">
                <a:solidFill>
                  <a:srgbClr val="173D38"/>
                </a:solidFill>
                <a:latin typeface="DejaVu Sans"/>
                <a:ea typeface="DejaVu Sans"/>
                <a:cs typeface="DejaVu Sans"/>
              </a:defRPr>
            </a:lvl1pPr>
            <a:lvl2pPr>
              <a:defRPr sz="1575" b="1">
                <a:solidFill>
                  <a:srgbClr val="173D38"/>
                </a:solidFill>
                <a:latin typeface="DejaVu Sans"/>
                <a:ea typeface="DejaVu Sans"/>
                <a:cs typeface="DejaVu Sans"/>
              </a:defRPr>
            </a:lvl2pPr>
            <a:lvl3pPr>
              <a:defRPr sz="1575" b="1">
                <a:solidFill>
                  <a:srgbClr val="173D38"/>
                </a:solidFill>
                <a:latin typeface="DejaVu Sans"/>
                <a:ea typeface="DejaVu Sans"/>
                <a:cs typeface="DejaVu Sans"/>
              </a:defRPr>
            </a:lvl3pPr>
            <a:lvl4pPr>
              <a:defRPr sz="1575" b="1">
                <a:solidFill>
                  <a:srgbClr val="173D38"/>
                </a:solidFill>
                <a:latin typeface="DejaVu Sans"/>
                <a:ea typeface="DejaVu Sans"/>
                <a:cs typeface="DejaVu Sans"/>
              </a:defRPr>
            </a:lvl4pPr>
            <a:lvl5pPr>
              <a:defRPr sz="1575" b="1">
                <a:solidFill>
                  <a:srgbClr val="173D38"/>
                </a:solidFill>
                <a:latin typeface="DejaVu Sans"/>
                <a:ea typeface="DejaVu Sans"/>
                <a:cs typeface="DejaVu Sans"/>
              </a:defRPr>
            </a:lvl5pPr>
            <a:lvl6pPr>
              <a:defRPr sz="1575" b="1">
                <a:solidFill>
                  <a:srgbClr val="173D38"/>
                </a:solidFill>
                <a:latin typeface="DejaVu Sans"/>
                <a:ea typeface="DejaVu Sans"/>
                <a:cs typeface="DejaVu Sans"/>
              </a:defRPr>
            </a:lvl6pPr>
            <a:lvl7pPr>
              <a:defRPr sz="1575" b="1">
                <a:solidFill>
                  <a:srgbClr val="173D38"/>
                </a:solidFill>
                <a:latin typeface="DejaVu Sans"/>
                <a:ea typeface="DejaVu Sans"/>
                <a:cs typeface="DejaVu Sans"/>
              </a:defRPr>
            </a:lvl7pPr>
            <a:lvl8pPr>
              <a:defRPr sz="1575" b="1">
                <a:solidFill>
                  <a:srgbClr val="173D38"/>
                </a:solidFill>
                <a:latin typeface="DejaVu Sans"/>
                <a:ea typeface="DejaVu Sans"/>
                <a:cs typeface="DejaVu Sans"/>
              </a:defRPr>
            </a:lvl8pPr>
            <a:lvl9pPr>
              <a:defRPr sz="1575" b="1">
                <a:solidFill>
                  <a:srgbClr val="173D38"/>
                </a:solidFill>
                <a:latin typeface="DejaVu Sans"/>
                <a:ea typeface="DejaVu Sans"/>
                <a:cs typeface="DejaVu Sans"/>
              </a:defRPr>
            </a:lvl9pPr>
          </a:lstStyle>
          <a:p xmlns:a="http://schemas.openxmlformats.org/drawingml/2006/main">
            <a:pPr>
              <a:defRPr sz="1575" b="1">
                <a:solidFill>
                  <a:srgbClr val="173D38"/>
                </a:solidFill>
                <a:latin typeface="DejaVu Sans"/>
                <a:ea typeface="DejaVu Sans"/>
                <a:cs typeface="DejaVu Sans"/>
              </a:defRPr>
            </a:pPr>
            <a:r>
              <a:rPr sz="1575" b="1">
                <a:solidFill>
                  <a:srgbClr val="173D38"/>
                </a:solidFill>
                <a:latin typeface="DejaVu Sans"/>
                <a:ea typeface="DejaVu Sans"/>
                <a:cs typeface="DejaVu Sans"/>
              </a:rPr>
              <a:t>1 : 0..N</a:t>
            </a:r>
          </a:p>
        </p:txBody>
      </p:sp>
    </p:spTree>
    <p:extLst>
      <p:ext uri="{BB962C8B-B14F-4D97-AF65-F5344CB8AC3E}">
        <p14:creationId xmlns:p14="http://schemas.microsoft.com/office/powerpoint/2010/main" val="458055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83D5BAB-4930-4373-88CC-F39847B071F4}"/>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Normalization and integrity</a:t>
            </a:r>
          </a:p>
        </p:txBody>
      </p:sp>
      <p:sp>
        <p:nvSpPr>
          <p:cNvPr id="2" name="text-1">
            <a:extLst xmlns:a="http://schemas.openxmlformats.org/drawingml/2006/main">
              <a:ext uri="{FF2B5EF4-FFF2-40B4-BE49-F238E27FC236}">
                <a16:creationId xmlns:a16="http://schemas.microsoft.com/office/drawing/2014/main" id="{A2B12149-5B03-46F4-8F5D-DA652F3FAC2C}"/>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06</a:t>
            </a:r>
          </a:p>
        </p:txBody>
      </p:sp>
      <p:sp>
        <p:nvSpPr>
          <p:cNvPr id="3" name="text-2">
            <a:extLst xmlns:a="http://schemas.openxmlformats.org/drawingml/2006/main">
              <a:ext uri="{FF2B5EF4-FFF2-40B4-BE49-F238E27FC236}">
                <a16:creationId xmlns:a16="http://schemas.microsoft.com/office/drawing/2014/main" id="{97346646-E4A6-468F-8CC4-7D017A5BCE6D}"/>
              </a:ext>
            </a:extLst>
          </p:cNvPr>
          <p:cNvSpPr>
            <a:spLocks xmlns:a="http://schemas.openxmlformats.org/drawingml/2006/main" noGrp="1"/>
          </p:cNvSpPr>
          <p:nvPr/>
        </p:nvSpPr>
        <p:spPr>
          <a:xfrm xmlns:a="http://schemas.openxmlformats.org/drawingml/2006/main">
            <a:off x="609600" y="1619250"/>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Separate rows hold specializations, medicine items and payments</a:t>
            </a:r>
          </a:p>
        </p:txBody>
      </p:sp>
      <p:sp>
        <p:nvSpPr>
          <p:cNvPr id="4" name="text-3">
            <a:extLst xmlns:a="http://schemas.openxmlformats.org/drawingml/2006/main">
              <a:ext uri="{FF2B5EF4-FFF2-40B4-BE49-F238E27FC236}">
                <a16:creationId xmlns:a16="http://schemas.microsoft.com/office/drawing/2014/main" id="{651D7DA8-68DA-4E4E-BB7F-F42C24C70AB6}"/>
              </a:ext>
            </a:extLst>
          </p:cNvPr>
          <p:cNvSpPr>
            <a:spLocks xmlns:a="http://schemas.openxmlformats.org/drawingml/2006/main" noGrp="1"/>
          </p:cNvSpPr>
          <p:nvPr/>
        </p:nvSpPr>
        <p:spPr>
          <a:xfrm xmlns:a="http://schemas.openxmlformats.org/drawingml/2006/main">
            <a:off x="609600" y="2609850"/>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Primary and foreign keys protect record relationships</a:t>
            </a:r>
          </a:p>
        </p:txBody>
      </p:sp>
      <p:sp>
        <p:nvSpPr>
          <p:cNvPr id="5" name="text-4">
            <a:extLst xmlns:a="http://schemas.openxmlformats.org/drawingml/2006/main">
              <a:ext uri="{FF2B5EF4-FFF2-40B4-BE49-F238E27FC236}">
                <a16:creationId xmlns:a16="http://schemas.microsoft.com/office/drawing/2014/main" id="{D4CBB1D4-6E61-4566-A805-BE119CA2C142}"/>
              </a:ext>
            </a:extLst>
          </p:cNvPr>
          <p:cNvSpPr>
            <a:spLocks xmlns:a="http://schemas.openxmlformats.org/drawingml/2006/main" noGrp="1"/>
          </p:cNvSpPr>
          <p:nvPr/>
        </p:nvSpPr>
        <p:spPr>
          <a:xfrm xmlns:a="http://schemas.openxmlformats.org/drawingml/2006/main">
            <a:off x="609600" y="3600450"/>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Unique indexes protect occupied appointment slots</a:t>
            </a:r>
          </a:p>
        </p:txBody>
      </p:sp>
      <p:sp>
        <p:nvSpPr>
          <p:cNvPr id="6" name="text-5">
            <a:extLst xmlns:a="http://schemas.openxmlformats.org/drawingml/2006/main">
              <a:ext uri="{FF2B5EF4-FFF2-40B4-BE49-F238E27FC236}">
                <a16:creationId xmlns:a16="http://schemas.microsoft.com/office/drawing/2014/main" id="{E82788F7-EB50-4574-A361-63656E660823}"/>
              </a:ext>
            </a:extLst>
          </p:cNvPr>
          <p:cNvSpPr>
            <a:spLocks xmlns:a="http://schemas.openxmlformats.org/drawingml/2006/main" noGrp="1"/>
          </p:cNvSpPr>
          <p:nvPr/>
        </p:nvSpPr>
        <p:spPr>
          <a:xfrm xmlns:a="http://schemas.openxmlformats.org/drawingml/2006/main">
            <a:off x="609600" y="4591050"/>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agreed_fee preserves the booking fee when session fees change</a:t>
            </a:r>
          </a:p>
        </p:txBody>
      </p:sp>
    </p:spTree>
    <p:extLst>
      <p:ext uri="{BB962C8B-B14F-4D97-AF65-F5344CB8AC3E}">
        <p14:creationId xmlns:p14="http://schemas.microsoft.com/office/powerpoint/2010/main" val="14520460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C59C802-5F22-412C-B830-D04450530BE2}"/>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PL/SQL implementation</a:t>
            </a:r>
          </a:p>
        </p:txBody>
      </p:sp>
      <p:sp>
        <p:nvSpPr>
          <p:cNvPr id="2" name="text-1">
            <a:extLst xmlns:a="http://schemas.openxmlformats.org/drawingml/2006/main">
              <a:ext uri="{FF2B5EF4-FFF2-40B4-BE49-F238E27FC236}">
                <a16:creationId xmlns:a16="http://schemas.microsoft.com/office/drawing/2014/main" id="{4E6B74B2-BAEC-4CDA-9B1C-8DA5DDC05D36}"/>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07</a:t>
            </a:r>
          </a:p>
        </p:txBody>
      </p:sp>
      <p:sp>
        <p:nvSpPr>
          <p:cNvPr id="3" name="text-2">
            <a:extLst xmlns:a="http://schemas.openxmlformats.org/drawingml/2006/main">
              <a:ext uri="{FF2B5EF4-FFF2-40B4-BE49-F238E27FC236}">
                <a16:creationId xmlns:a16="http://schemas.microsoft.com/office/drawing/2014/main" id="{D505E650-10E2-47E7-B7B7-D97C85E23F05}"/>
              </a:ext>
            </a:extLst>
          </p:cNvPr>
          <p:cNvSpPr>
            <a:spLocks xmlns:a="http://schemas.openxmlformats.org/drawingml/2006/main" noGrp="1"/>
          </p:cNvSpPr>
          <p:nvPr/>
        </p:nvSpPr>
        <p:spPr>
          <a:xfrm xmlns:a="http://schemas.openxmlformats.org/drawingml/2006/main">
            <a:off x="609600" y="148590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D38"/>
                </a:solidFill>
                <a:latin typeface="DejaVu Sans"/>
                <a:ea typeface="DejaVu Sans"/>
                <a:cs typeface="DejaVu Sans"/>
              </a:defRPr>
            </a:defPPr>
            <a:lvl1pPr>
              <a:defRPr sz="2100" b="0">
                <a:solidFill>
                  <a:srgbClr val="173D38"/>
                </a:solidFill>
                <a:latin typeface="DejaVu Sans"/>
                <a:ea typeface="DejaVu Sans"/>
                <a:cs typeface="DejaVu Sans"/>
              </a:defRPr>
            </a:lvl1pPr>
            <a:lvl2pPr>
              <a:defRPr sz="2100" b="0">
                <a:solidFill>
                  <a:srgbClr val="173D38"/>
                </a:solidFill>
                <a:latin typeface="DejaVu Sans"/>
                <a:ea typeface="DejaVu Sans"/>
                <a:cs typeface="DejaVu Sans"/>
              </a:defRPr>
            </a:lvl2pPr>
            <a:lvl3pPr>
              <a:defRPr sz="2100" b="0">
                <a:solidFill>
                  <a:srgbClr val="173D38"/>
                </a:solidFill>
                <a:latin typeface="DejaVu Sans"/>
                <a:ea typeface="DejaVu Sans"/>
                <a:cs typeface="DejaVu Sans"/>
              </a:defRPr>
            </a:lvl3pPr>
            <a:lvl4pPr>
              <a:defRPr sz="2100" b="0">
                <a:solidFill>
                  <a:srgbClr val="173D38"/>
                </a:solidFill>
                <a:latin typeface="DejaVu Sans"/>
                <a:ea typeface="DejaVu Sans"/>
                <a:cs typeface="DejaVu Sans"/>
              </a:defRPr>
            </a:lvl4pPr>
            <a:lvl5pPr>
              <a:defRPr sz="2100" b="0">
                <a:solidFill>
                  <a:srgbClr val="173D38"/>
                </a:solidFill>
                <a:latin typeface="DejaVu Sans"/>
                <a:ea typeface="DejaVu Sans"/>
                <a:cs typeface="DejaVu Sans"/>
              </a:defRPr>
            </a:lvl5pPr>
            <a:lvl6pPr>
              <a:defRPr sz="2100" b="0">
                <a:solidFill>
                  <a:srgbClr val="173D38"/>
                </a:solidFill>
                <a:latin typeface="DejaVu Sans"/>
                <a:ea typeface="DejaVu Sans"/>
                <a:cs typeface="DejaVu Sans"/>
              </a:defRPr>
            </a:lvl6pPr>
            <a:lvl7pPr>
              <a:defRPr sz="2100" b="0">
                <a:solidFill>
                  <a:srgbClr val="173D38"/>
                </a:solidFill>
                <a:latin typeface="DejaVu Sans"/>
                <a:ea typeface="DejaVu Sans"/>
                <a:cs typeface="DejaVu Sans"/>
              </a:defRPr>
            </a:lvl7pPr>
            <a:lvl8pPr>
              <a:defRPr sz="2100" b="0">
                <a:solidFill>
                  <a:srgbClr val="173D38"/>
                </a:solidFill>
                <a:latin typeface="DejaVu Sans"/>
                <a:ea typeface="DejaVu Sans"/>
                <a:cs typeface="DejaVu Sans"/>
              </a:defRPr>
            </a:lvl8pPr>
            <a:lvl9pPr>
              <a:defRPr sz="2100" b="0">
                <a:solidFill>
                  <a:srgbClr val="173D38"/>
                </a:solidFill>
                <a:latin typeface="DejaVu Sans"/>
                <a:ea typeface="DejaVu Sans"/>
                <a:cs typeface="DejaVu Sans"/>
              </a:defRPr>
            </a:lvl9pPr>
          </a:lstStyle>
          <a:p xmlns:a="http://schemas.openxmlformats.org/drawingml/2006/main">
            <a:pPr>
              <a:defRPr sz="2100" b="0">
                <a:solidFill>
                  <a:srgbClr val="173D38"/>
                </a:solidFill>
                <a:latin typeface="DejaVu Sans"/>
                <a:ea typeface="DejaVu Sans"/>
                <a:cs typeface="DejaVu Sans"/>
              </a:defRPr>
            </a:pPr>
            <a:r>
              <a:rPr sz="2100" b="0">
                <a:solidFill>
                  <a:srgbClr val="173D38"/>
                </a:solidFill>
                <a:latin typeface="DejaVu Sans"/>
                <a:ea typeface="DejaVu Sans"/>
                <a:cs typeface="DejaVu Sans"/>
              </a:rPr>
              <a:t>Procedures handle bookings, visits and payment changes</a:t>
            </a:r>
          </a:p>
        </p:txBody>
      </p:sp>
      <p:sp>
        <p:nvSpPr>
          <p:cNvPr id="4" name="text-3">
            <a:extLst xmlns:a="http://schemas.openxmlformats.org/drawingml/2006/main">
              <a:ext uri="{FF2B5EF4-FFF2-40B4-BE49-F238E27FC236}">
                <a16:creationId xmlns:a16="http://schemas.microsoft.com/office/drawing/2014/main" id="{49CCCB4F-BB24-497B-B0DF-026103FE5BDC}"/>
              </a:ext>
            </a:extLst>
          </p:cNvPr>
          <p:cNvSpPr>
            <a:spLocks xmlns:a="http://schemas.openxmlformats.org/drawingml/2006/main" noGrp="1"/>
          </p:cNvSpPr>
          <p:nvPr/>
        </p:nvSpPr>
        <p:spPr>
          <a:xfrm xmlns:a="http://schemas.openxmlformats.org/drawingml/2006/main">
            <a:off x="609600" y="235267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D38"/>
                </a:solidFill>
                <a:latin typeface="DejaVu Sans"/>
                <a:ea typeface="DejaVu Sans"/>
                <a:cs typeface="DejaVu Sans"/>
              </a:defRPr>
            </a:defPPr>
            <a:lvl1pPr>
              <a:defRPr sz="2100" b="0">
                <a:solidFill>
                  <a:srgbClr val="173D38"/>
                </a:solidFill>
                <a:latin typeface="DejaVu Sans"/>
                <a:ea typeface="DejaVu Sans"/>
                <a:cs typeface="DejaVu Sans"/>
              </a:defRPr>
            </a:lvl1pPr>
            <a:lvl2pPr>
              <a:defRPr sz="2100" b="0">
                <a:solidFill>
                  <a:srgbClr val="173D38"/>
                </a:solidFill>
                <a:latin typeface="DejaVu Sans"/>
                <a:ea typeface="DejaVu Sans"/>
                <a:cs typeface="DejaVu Sans"/>
              </a:defRPr>
            </a:lvl2pPr>
            <a:lvl3pPr>
              <a:defRPr sz="2100" b="0">
                <a:solidFill>
                  <a:srgbClr val="173D38"/>
                </a:solidFill>
                <a:latin typeface="DejaVu Sans"/>
                <a:ea typeface="DejaVu Sans"/>
                <a:cs typeface="DejaVu Sans"/>
              </a:defRPr>
            </a:lvl3pPr>
            <a:lvl4pPr>
              <a:defRPr sz="2100" b="0">
                <a:solidFill>
                  <a:srgbClr val="173D38"/>
                </a:solidFill>
                <a:latin typeface="DejaVu Sans"/>
                <a:ea typeface="DejaVu Sans"/>
                <a:cs typeface="DejaVu Sans"/>
              </a:defRPr>
            </a:lvl4pPr>
            <a:lvl5pPr>
              <a:defRPr sz="2100" b="0">
                <a:solidFill>
                  <a:srgbClr val="173D38"/>
                </a:solidFill>
                <a:latin typeface="DejaVu Sans"/>
                <a:ea typeface="DejaVu Sans"/>
                <a:cs typeface="DejaVu Sans"/>
              </a:defRPr>
            </a:lvl5pPr>
            <a:lvl6pPr>
              <a:defRPr sz="2100" b="0">
                <a:solidFill>
                  <a:srgbClr val="173D38"/>
                </a:solidFill>
                <a:latin typeface="DejaVu Sans"/>
                <a:ea typeface="DejaVu Sans"/>
                <a:cs typeface="DejaVu Sans"/>
              </a:defRPr>
            </a:lvl6pPr>
            <a:lvl7pPr>
              <a:defRPr sz="2100" b="0">
                <a:solidFill>
                  <a:srgbClr val="173D38"/>
                </a:solidFill>
                <a:latin typeface="DejaVu Sans"/>
                <a:ea typeface="DejaVu Sans"/>
                <a:cs typeface="DejaVu Sans"/>
              </a:defRPr>
            </a:lvl7pPr>
            <a:lvl8pPr>
              <a:defRPr sz="2100" b="0">
                <a:solidFill>
                  <a:srgbClr val="173D38"/>
                </a:solidFill>
                <a:latin typeface="DejaVu Sans"/>
                <a:ea typeface="DejaVu Sans"/>
                <a:cs typeface="DejaVu Sans"/>
              </a:defRPr>
            </a:lvl8pPr>
            <a:lvl9pPr>
              <a:defRPr sz="2100" b="0">
                <a:solidFill>
                  <a:srgbClr val="173D38"/>
                </a:solidFill>
                <a:latin typeface="DejaVu Sans"/>
                <a:ea typeface="DejaVu Sans"/>
                <a:cs typeface="DejaVu Sans"/>
              </a:defRPr>
            </a:lvl9pPr>
          </a:lstStyle>
          <a:p xmlns:a="http://schemas.openxmlformats.org/drawingml/2006/main">
            <a:pPr>
              <a:defRPr sz="2100" b="0">
                <a:solidFill>
                  <a:srgbClr val="173D38"/>
                </a:solidFill>
                <a:latin typeface="DejaVu Sans"/>
                <a:ea typeface="DejaVu Sans"/>
                <a:cs typeface="DejaVu Sans"/>
              </a:defRPr>
            </a:pPr>
            <a:r>
              <a:rPr sz="2100" b="0">
                <a:solidFill>
                  <a:srgbClr val="173D38"/>
                </a:solidFill>
                <a:latin typeface="DejaVu Sans"/>
                <a:ea typeface="DejaVu Sans"/>
                <a:cs typeface="DejaVu Sans"/>
              </a:rPr>
              <a:t>Functions calculate patient age and appointment balance</a:t>
            </a:r>
          </a:p>
        </p:txBody>
      </p:sp>
      <p:sp>
        <p:nvSpPr>
          <p:cNvPr id="5" name="text-4">
            <a:extLst xmlns:a="http://schemas.openxmlformats.org/drawingml/2006/main">
              <a:ext uri="{FF2B5EF4-FFF2-40B4-BE49-F238E27FC236}">
                <a16:creationId xmlns:a16="http://schemas.microsoft.com/office/drawing/2014/main" id="{BA773752-4E77-469A-B16F-94EFB6C58152}"/>
              </a:ext>
            </a:extLst>
          </p:cNvPr>
          <p:cNvSpPr>
            <a:spLocks xmlns:a="http://schemas.openxmlformats.org/drawingml/2006/main" noGrp="1"/>
          </p:cNvSpPr>
          <p:nvPr/>
        </p:nvSpPr>
        <p:spPr>
          <a:xfrm xmlns:a="http://schemas.openxmlformats.org/drawingml/2006/main">
            <a:off x="609600" y="321945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D38"/>
                </a:solidFill>
                <a:latin typeface="DejaVu Sans"/>
                <a:ea typeface="DejaVu Sans"/>
                <a:cs typeface="DejaVu Sans"/>
              </a:defRPr>
            </a:defPPr>
            <a:lvl1pPr>
              <a:defRPr sz="2100" b="0">
                <a:solidFill>
                  <a:srgbClr val="173D38"/>
                </a:solidFill>
                <a:latin typeface="DejaVu Sans"/>
                <a:ea typeface="DejaVu Sans"/>
                <a:cs typeface="DejaVu Sans"/>
              </a:defRPr>
            </a:lvl1pPr>
            <a:lvl2pPr>
              <a:defRPr sz="2100" b="0">
                <a:solidFill>
                  <a:srgbClr val="173D38"/>
                </a:solidFill>
                <a:latin typeface="DejaVu Sans"/>
                <a:ea typeface="DejaVu Sans"/>
                <a:cs typeface="DejaVu Sans"/>
              </a:defRPr>
            </a:lvl2pPr>
            <a:lvl3pPr>
              <a:defRPr sz="2100" b="0">
                <a:solidFill>
                  <a:srgbClr val="173D38"/>
                </a:solidFill>
                <a:latin typeface="DejaVu Sans"/>
                <a:ea typeface="DejaVu Sans"/>
                <a:cs typeface="DejaVu Sans"/>
              </a:defRPr>
            </a:lvl3pPr>
            <a:lvl4pPr>
              <a:defRPr sz="2100" b="0">
                <a:solidFill>
                  <a:srgbClr val="173D38"/>
                </a:solidFill>
                <a:latin typeface="DejaVu Sans"/>
                <a:ea typeface="DejaVu Sans"/>
                <a:cs typeface="DejaVu Sans"/>
              </a:defRPr>
            </a:lvl4pPr>
            <a:lvl5pPr>
              <a:defRPr sz="2100" b="0">
                <a:solidFill>
                  <a:srgbClr val="173D38"/>
                </a:solidFill>
                <a:latin typeface="DejaVu Sans"/>
                <a:ea typeface="DejaVu Sans"/>
                <a:cs typeface="DejaVu Sans"/>
              </a:defRPr>
            </a:lvl5pPr>
            <a:lvl6pPr>
              <a:defRPr sz="2100" b="0">
                <a:solidFill>
                  <a:srgbClr val="173D38"/>
                </a:solidFill>
                <a:latin typeface="DejaVu Sans"/>
                <a:ea typeface="DejaVu Sans"/>
                <a:cs typeface="DejaVu Sans"/>
              </a:defRPr>
            </a:lvl6pPr>
            <a:lvl7pPr>
              <a:defRPr sz="2100" b="0">
                <a:solidFill>
                  <a:srgbClr val="173D38"/>
                </a:solidFill>
                <a:latin typeface="DejaVu Sans"/>
                <a:ea typeface="DejaVu Sans"/>
                <a:cs typeface="DejaVu Sans"/>
              </a:defRPr>
            </a:lvl7pPr>
            <a:lvl8pPr>
              <a:defRPr sz="2100" b="0">
                <a:solidFill>
                  <a:srgbClr val="173D38"/>
                </a:solidFill>
                <a:latin typeface="DejaVu Sans"/>
                <a:ea typeface="DejaVu Sans"/>
                <a:cs typeface="DejaVu Sans"/>
              </a:defRPr>
            </a:lvl8pPr>
            <a:lvl9pPr>
              <a:defRPr sz="2100" b="0">
                <a:solidFill>
                  <a:srgbClr val="173D38"/>
                </a:solidFill>
                <a:latin typeface="DejaVu Sans"/>
                <a:ea typeface="DejaVu Sans"/>
                <a:cs typeface="DejaVu Sans"/>
              </a:defRPr>
            </a:lvl9pPr>
          </a:lstStyle>
          <a:p xmlns:a="http://schemas.openxmlformats.org/drawingml/2006/main">
            <a:pPr>
              <a:defRPr sz="2100" b="0">
                <a:solidFill>
                  <a:srgbClr val="173D38"/>
                </a:solidFill>
                <a:latin typeface="DejaVu Sans"/>
                <a:ea typeface="DejaVu Sans"/>
                <a:cs typeface="DejaVu Sans"/>
              </a:defRPr>
            </a:pPr>
            <a:r>
              <a:rPr sz="2100" b="0">
                <a:solidFill>
                  <a:srgbClr val="173D38"/>
                </a:solidFill>
                <a:latin typeface="DejaVu Sans"/>
                <a:ea typeface="DejaVu Sans"/>
                <a:cs typeface="DejaVu Sans"/>
              </a:rPr>
              <a:t>An explicit cursor processes session cancellations</a:t>
            </a:r>
          </a:p>
        </p:txBody>
      </p:sp>
      <p:sp>
        <p:nvSpPr>
          <p:cNvPr id="6" name="text-5">
            <a:extLst xmlns:a="http://schemas.openxmlformats.org/drawingml/2006/main">
              <a:ext uri="{FF2B5EF4-FFF2-40B4-BE49-F238E27FC236}">
                <a16:creationId xmlns:a16="http://schemas.microsoft.com/office/drawing/2014/main" id="{ADDD9AB7-FADE-495C-98CB-2A042F8A5C44}"/>
              </a:ext>
            </a:extLst>
          </p:cNvPr>
          <p:cNvSpPr>
            <a:spLocks xmlns:a="http://schemas.openxmlformats.org/drawingml/2006/main" noGrp="1"/>
          </p:cNvSpPr>
          <p:nvPr/>
        </p:nvSpPr>
        <p:spPr>
          <a:xfrm xmlns:a="http://schemas.openxmlformats.org/drawingml/2006/main">
            <a:off x="609600" y="408622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D38"/>
                </a:solidFill>
                <a:latin typeface="DejaVu Sans"/>
                <a:ea typeface="DejaVu Sans"/>
                <a:cs typeface="DejaVu Sans"/>
              </a:defRPr>
            </a:defPPr>
            <a:lvl1pPr>
              <a:defRPr sz="2100" b="0">
                <a:solidFill>
                  <a:srgbClr val="173D38"/>
                </a:solidFill>
                <a:latin typeface="DejaVu Sans"/>
                <a:ea typeface="DejaVu Sans"/>
                <a:cs typeface="DejaVu Sans"/>
              </a:defRPr>
            </a:lvl1pPr>
            <a:lvl2pPr>
              <a:defRPr sz="2100" b="0">
                <a:solidFill>
                  <a:srgbClr val="173D38"/>
                </a:solidFill>
                <a:latin typeface="DejaVu Sans"/>
                <a:ea typeface="DejaVu Sans"/>
                <a:cs typeface="DejaVu Sans"/>
              </a:defRPr>
            </a:lvl2pPr>
            <a:lvl3pPr>
              <a:defRPr sz="2100" b="0">
                <a:solidFill>
                  <a:srgbClr val="173D38"/>
                </a:solidFill>
                <a:latin typeface="DejaVu Sans"/>
                <a:ea typeface="DejaVu Sans"/>
                <a:cs typeface="DejaVu Sans"/>
              </a:defRPr>
            </a:lvl3pPr>
            <a:lvl4pPr>
              <a:defRPr sz="2100" b="0">
                <a:solidFill>
                  <a:srgbClr val="173D38"/>
                </a:solidFill>
                <a:latin typeface="DejaVu Sans"/>
                <a:ea typeface="DejaVu Sans"/>
                <a:cs typeface="DejaVu Sans"/>
              </a:defRPr>
            </a:lvl4pPr>
            <a:lvl5pPr>
              <a:defRPr sz="2100" b="0">
                <a:solidFill>
                  <a:srgbClr val="173D38"/>
                </a:solidFill>
                <a:latin typeface="DejaVu Sans"/>
                <a:ea typeface="DejaVu Sans"/>
                <a:cs typeface="DejaVu Sans"/>
              </a:defRPr>
            </a:lvl5pPr>
            <a:lvl6pPr>
              <a:defRPr sz="2100" b="0">
                <a:solidFill>
                  <a:srgbClr val="173D38"/>
                </a:solidFill>
                <a:latin typeface="DejaVu Sans"/>
                <a:ea typeface="DejaVu Sans"/>
                <a:cs typeface="DejaVu Sans"/>
              </a:defRPr>
            </a:lvl6pPr>
            <a:lvl7pPr>
              <a:defRPr sz="2100" b="0">
                <a:solidFill>
                  <a:srgbClr val="173D38"/>
                </a:solidFill>
                <a:latin typeface="DejaVu Sans"/>
                <a:ea typeface="DejaVu Sans"/>
                <a:cs typeface="DejaVu Sans"/>
              </a:defRPr>
            </a:lvl7pPr>
            <a:lvl8pPr>
              <a:defRPr sz="2100" b="0">
                <a:solidFill>
                  <a:srgbClr val="173D38"/>
                </a:solidFill>
                <a:latin typeface="DejaVu Sans"/>
                <a:ea typeface="DejaVu Sans"/>
                <a:cs typeface="DejaVu Sans"/>
              </a:defRPr>
            </a:lvl8pPr>
            <a:lvl9pPr>
              <a:defRPr sz="2100" b="0">
                <a:solidFill>
                  <a:srgbClr val="173D38"/>
                </a:solidFill>
                <a:latin typeface="DejaVu Sans"/>
                <a:ea typeface="DejaVu Sans"/>
                <a:cs typeface="DejaVu Sans"/>
              </a:defRPr>
            </a:lvl9pPr>
          </a:lstStyle>
          <a:p xmlns:a="http://schemas.openxmlformats.org/drawingml/2006/main">
            <a:pPr>
              <a:defRPr sz="2100" b="0">
                <a:solidFill>
                  <a:srgbClr val="173D38"/>
                </a:solidFill>
                <a:latin typeface="DejaVu Sans"/>
                <a:ea typeface="DejaVu Sans"/>
                <a:cs typeface="DejaVu Sans"/>
              </a:defRPr>
            </a:pPr>
            <a:r>
              <a:rPr sz="2100" b="0">
                <a:solidFill>
                  <a:srgbClr val="173D38"/>
                </a:solidFill>
                <a:latin typeface="DejaVu Sans"/>
                <a:ea typeface="DejaVu Sans"/>
                <a:cs typeface="DejaVu Sans"/>
              </a:rPr>
              <a:t>Five triggers normalize data and protect history</a:t>
            </a:r>
          </a:p>
        </p:txBody>
      </p:sp>
      <p:sp>
        <p:nvSpPr>
          <p:cNvPr id="7" name="text-6">
            <a:extLst xmlns:a="http://schemas.openxmlformats.org/drawingml/2006/main">
              <a:ext uri="{FF2B5EF4-FFF2-40B4-BE49-F238E27FC236}">
                <a16:creationId xmlns:a16="http://schemas.microsoft.com/office/drawing/2014/main" id="{7239ED7D-9040-4AFD-AF14-4E4C29B4119F}"/>
              </a:ext>
            </a:extLst>
          </p:cNvPr>
          <p:cNvSpPr>
            <a:spLocks xmlns:a="http://schemas.openxmlformats.org/drawingml/2006/main" noGrp="1"/>
          </p:cNvSpPr>
          <p:nvPr/>
        </p:nvSpPr>
        <p:spPr>
          <a:xfrm xmlns:a="http://schemas.openxmlformats.org/drawingml/2006/main">
            <a:off x="609600" y="495300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3D38"/>
                </a:solidFill>
                <a:latin typeface="DejaVu Sans"/>
                <a:ea typeface="DejaVu Sans"/>
                <a:cs typeface="DejaVu Sans"/>
              </a:defRPr>
            </a:defPPr>
            <a:lvl1pPr>
              <a:defRPr sz="2100" b="0">
                <a:solidFill>
                  <a:srgbClr val="173D38"/>
                </a:solidFill>
                <a:latin typeface="DejaVu Sans"/>
                <a:ea typeface="DejaVu Sans"/>
                <a:cs typeface="DejaVu Sans"/>
              </a:defRPr>
            </a:lvl1pPr>
            <a:lvl2pPr>
              <a:defRPr sz="2100" b="0">
                <a:solidFill>
                  <a:srgbClr val="173D38"/>
                </a:solidFill>
                <a:latin typeface="DejaVu Sans"/>
                <a:ea typeface="DejaVu Sans"/>
                <a:cs typeface="DejaVu Sans"/>
              </a:defRPr>
            </a:lvl2pPr>
            <a:lvl3pPr>
              <a:defRPr sz="2100" b="0">
                <a:solidFill>
                  <a:srgbClr val="173D38"/>
                </a:solidFill>
                <a:latin typeface="DejaVu Sans"/>
                <a:ea typeface="DejaVu Sans"/>
                <a:cs typeface="DejaVu Sans"/>
              </a:defRPr>
            </a:lvl3pPr>
            <a:lvl4pPr>
              <a:defRPr sz="2100" b="0">
                <a:solidFill>
                  <a:srgbClr val="173D38"/>
                </a:solidFill>
                <a:latin typeface="DejaVu Sans"/>
                <a:ea typeface="DejaVu Sans"/>
                <a:cs typeface="DejaVu Sans"/>
              </a:defRPr>
            </a:lvl4pPr>
            <a:lvl5pPr>
              <a:defRPr sz="2100" b="0">
                <a:solidFill>
                  <a:srgbClr val="173D38"/>
                </a:solidFill>
                <a:latin typeface="DejaVu Sans"/>
                <a:ea typeface="DejaVu Sans"/>
                <a:cs typeface="DejaVu Sans"/>
              </a:defRPr>
            </a:lvl5pPr>
            <a:lvl6pPr>
              <a:defRPr sz="2100" b="0">
                <a:solidFill>
                  <a:srgbClr val="173D38"/>
                </a:solidFill>
                <a:latin typeface="DejaVu Sans"/>
                <a:ea typeface="DejaVu Sans"/>
                <a:cs typeface="DejaVu Sans"/>
              </a:defRPr>
            </a:lvl6pPr>
            <a:lvl7pPr>
              <a:defRPr sz="2100" b="0">
                <a:solidFill>
                  <a:srgbClr val="173D38"/>
                </a:solidFill>
                <a:latin typeface="DejaVu Sans"/>
                <a:ea typeface="DejaVu Sans"/>
                <a:cs typeface="DejaVu Sans"/>
              </a:defRPr>
            </a:lvl7pPr>
            <a:lvl8pPr>
              <a:defRPr sz="2100" b="0">
                <a:solidFill>
                  <a:srgbClr val="173D38"/>
                </a:solidFill>
                <a:latin typeface="DejaVu Sans"/>
                <a:ea typeface="DejaVu Sans"/>
                <a:cs typeface="DejaVu Sans"/>
              </a:defRPr>
            </a:lvl8pPr>
            <a:lvl9pPr>
              <a:defRPr sz="2100" b="0">
                <a:solidFill>
                  <a:srgbClr val="173D38"/>
                </a:solidFill>
                <a:latin typeface="DejaVu Sans"/>
                <a:ea typeface="DejaVu Sans"/>
                <a:cs typeface="DejaVu Sans"/>
              </a:defRPr>
            </a:lvl9pPr>
          </a:lstStyle>
          <a:p xmlns:a="http://schemas.openxmlformats.org/drawingml/2006/main">
            <a:pPr>
              <a:defRPr sz="2100" b="0">
                <a:solidFill>
                  <a:srgbClr val="173D38"/>
                </a:solidFill>
                <a:latin typeface="DejaVu Sans"/>
                <a:ea typeface="DejaVu Sans"/>
                <a:cs typeface="DejaVu Sans"/>
              </a:defRPr>
            </a:pPr>
            <a:r>
              <a:rPr sz="2100" b="0">
                <a:solidFill>
                  <a:srgbClr val="173D38"/>
                </a:solidFill>
                <a:latin typeface="DejaVu Sans"/>
                <a:ea typeface="DejaVu Sans"/>
                <a:cs typeface="DejaVu Sans"/>
              </a:rPr>
              <a:t>Exceptions return errors and roll back failed operations</a:t>
            </a:r>
          </a:p>
        </p:txBody>
      </p:sp>
    </p:spTree>
    <p:extLst>
      <p:ext uri="{BB962C8B-B14F-4D97-AF65-F5344CB8AC3E}">
        <p14:creationId xmlns:p14="http://schemas.microsoft.com/office/powerpoint/2010/main" val="11694164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36A6998-0DEE-43D5-9E8C-911A9EB928F7}"/>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Transactions and the overpayment rule</a:t>
            </a:r>
          </a:p>
        </p:txBody>
      </p:sp>
      <p:sp>
        <p:nvSpPr>
          <p:cNvPr id="2" name="text-1">
            <a:extLst xmlns:a="http://schemas.openxmlformats.org/drawingml/2006/main">
              <a:ext uri="{FF2B5EF4-FFF2-40B4-BE49-F238E27FC236}">
                <a16:creationId xmlns:a16="http://schemas.microsoft.com/office/drawing/2014/main" id="{93BD940B-F9A0-49AD-8A82-95C9BE2CBF2C}"/>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08</a:t>
            </a:r>
          </a:p>
        </p:txBody>
      </p:sp>
      <p:sp>
        <p:nvSpPr>
          <p:cNvPr id="3" name="text-2">
            <a:extLst xmlns:a="http://schemas.openxmlformats.org/drawingml/2006/main">
              <a:ext uri="{FF2B5EF4-FFF2-40B4-BE49-F238E27FC236}">
                <a16:creationId xmlns:a16="http://schemas.microsoft.com/office/drawing/2014/main" id="{A74F7408-F5DB-463D-BF88-FB084EA9A118}"/>
              </a:ext>
            </a:extLst>
          </p:cNvPr>
          <p:cNvSpPr>
            <a:spLocks xmlns:a="http://schemas.openxmlformats.org/drawingml/2006/main" noGrp="1"/>
          </p:cNvSpPr>
          <p:nvPr/>
        </p:nvSpPr>
        <p:spPr>
          <a:xfrm xmlns:a="http://schemas.openxmlformats.org/drawingml/2006/main">
            <a:off x="609600" y="1647825"/>
            <a:ext cx="6191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73D38"/>
                </a:solidFill>
                <a:latin typeface="DejaVu Sans"/>
                <a:ea typeface="DejaVu Sans"/>
                <a:cs typeface="DejaVu Sans"/>
              </a:defRPr>
            </a:defPPr>
            <a:lvl1pPr>
              <a:defRPr sz="2400" b="1">
                <a:solidFill>
                  <a:srgbClr val="173D38"/>
                </a:solidFill>
                <a:latin typeface="DejaVu Sans"/>
                <a:ea typeface="DejaVu Sans"/>
                <a:cs typeface="DejaVu Sans"/>
              </a:defRPr>
            </a:lvl1pPr>
            <a:lvl2pPr>
              <a:defRPr sz="2400" b="1">
                <a:solidFill>
                  <a:srgbClr val="173D38"/>
                </a:solidFill>
                <a:latin typeface="DejaVu Sans"/>
                <a:ea typeface="DejaVu Sans"/>
                <a:cs typeface="DejaVu Sans"/>
              </a:defRPr>
            </a:lvl2pPr>
            <a:lvl3pPr>
              <a:defRPr sz="2400" b="1">
                <a:solidFill>
                  <a:srgbClr val="173D38"/>
                </a:solidFill>
                <a:latin typeface="DejaVu Sans"/>
                <a:ea typeface="DejaVu Sans"/>
                <a:cs typeface="DejaVu Sans"/>
              </a:defRPr>
            </a:lvl3pPr>
            <a:lvl4pPr>
              <a:defRPr sz="2400" b="1">
                <a:solidFill>
                  <a:srgbClr val="173D38"/>
                </a:solidFill>
                <a:latin typeface="DejaVu Sans"/>
                <a:ea typeface="DejaVu Sans"/>
                <a:cs typeface="DejaVu Sans"/>
              </a:defRPr>
            </a:lvl4pPr>
            <a:lvl5pPr>
              <a:defRPr sz="2400" b="1">
                <a:solidFill>
                  <a:srgbClr val="173D38"/>
                </a:solidFill>
                <a:latin typeface="DejaVu Sans"/>
                <a:ea typeface="DejaVu Sans"/>
                <a:cs typeface="DejaVu Sans"/>
              </a:defRPr>
            </a:lvl5pPr>
            <a:lvl6pPr>
              <a:defRPr sz="2400" b="1">
                <a:solidFill>
                  <a:srgbClr val="173D38"/>
                </a:solidFill>
                <a:latin typeface="DejaVu Sans"/>
                <a:ea typeface="DejaVu Sans"/>
                <a:cs typeface="DejaVu Sans"/>
              </a:defRPr>
            </a:lvl6pPr>
            <a:lvl7pPr>
              <a:defRPr sz="2400" b="1">
                <a:solidFill>
                  <a:srgbClr val="173D38"/>
                </a:solidFill>
                <a:latin typeface="DejaVu Sans"/>
                <a:ea typeface="DejaVu Sans"/>
                <a:cs typeface="DejaVu Sans"/>
              </a:defRPr>
            </a:lvl7pPr>
            <a:lvl8pPr>
              <a:defRPr sz="2400" b="1">
                <a:solidFill>
                  <a:srgbClr val="173D38"/>
                </a:solidFill>
                <a:latin typeface="DejaVu Sans"/>
                <a:ea typeface="DejaVu Sans"/>
                <a:cs typeface="DejaVu Sans"/>
              </a:defRPr>
            </a:lvl8pPr>
            <a:lvl9pPr>
              <a:defRPr sz="2400" b="1">
                <a:solidFill>
                  <a:srgbClr val="173D38"/>
                </a:solidFill>
                <a:latin typeface="DejaVu Sans"/>
                <a:ea typeface="DejaVu Sans"/>
                <a:cs typeface="DejaVu Sans"/>
              </a:defRPr>
            </a:lvl9pPr>
          </a:lstStyle>
          <a:p xmlns:a="http://schemas.openxmlformats.org/drawingml/2006/main">
            <a:pPr>
              <a:defRPr sz="2400" b="1">
                <a:solidFill>
                  <a:srgbClr val="173D38"/>
                </a:solidFill>
                <a:latin typeface="DejaVu Sans"/>
                <a:ea typeface="DejaVu Sans"/>
                <a:cs typeface="DejaVu Sans"/>
              </a:defRPr>
            </a:pPr>
            <a:r>
              <a:rPr sz="2400" b="1">
                <a:solidFill>
                  <a:srgbClr val="173D38"/>
                </a:solidFill>
                <a:latin typeface="DejaVu Sans"/>
                <a:ea typeface="DejaVu Sans"/>
                <a:cs typeface="DejaVu Sans"/>
              </a:rPr>
              <a:t>SELECT ... FOR UPDATE</a:t>
            </a:r>
          </a:p>
          <a:p xmlns:a="http://schemas.openxmlformats.org/drawingml/2006/main">
            <a:pPr>
              <a:defRPr sz="2400" b="1">
                <a:solidFill>
                  <a:srgbClr val="173D38"/>
                </a:solidFill>
                <a:latin typeface="DejaVu Sans"/>
                <a:ea typeface="DejaVu Sans"/>
                <a:cs typeface="DejaVu Sans"/>
              </a:defRPr>
            </a:pPr>
            <a:r>
              <a:rPr sz="2400" b="1">
                <a:solidFill>
                  <a:srgbClr val="173D38"/>
                </a:solidFill>
                <a:latin typeface="DejaVu Sans"/>
                <a:ea typeface="DejaVu Sans"/>
                <a:cs typeface="DejaVu Sans"/>
              </a:rPr>
              <a:t>Check the remaining balance</a:t>
            </a:r>
          </a:p>
          <a:p xmlns:a="http://schemas.openxmlformats.org/drawingml/2006/main">
            <a:pPr>
              <a:defRPr sz="2400" b="1">
                <a:solidFill>
                  <a:srgbClr val="173D38"/>
                </a:solidFill>
                <a:latin typeface="DejaVu Sans"/>
                <a:ea typeface="DejaVu Sans"/>
                <a:cs typeface="DejaVu Sans"/>
              </a:defRPr>
            </a:pPr>
            <a:r>
              <a:rPr sz="2400" b="1">
                <a:solidFill>
                  <a:srgbClr val="173D38"/>
                </a:solidFill>
                <a:latin typeface="DejaVu Sans"/>
                <a:ea typeface="DejaVu Sans"/>
                <a:cs typeface="DejaVu Sans"/>
              </a:rPr>
              <a:t>Reject an excessive amount</a:t>
            </a:r>
          </a:p>
          <a:p xmlns:a="http://schemas.openxmlformats.org/drawingml/2006/main">
            <a:pPr>
              <a:defRPr sz="2400" b="1">
                <a:solidFill>
                  <a:srgbClr val="173D38"/>
                </a:solidFill>
                <a:latin typeface="DejaVu Sans"/>
                <a:ea typeface="DejaVu Sans"/>
                <a:cs typeface="DejaVu Sans"/>
              </a:defRPr>
            </a:pPr>
            <a:r>
              <a:rPr sz="2400" b="1">
                <a:solidFill>
                  <a:srgbClr val="173D38"/>
                </a:solidFill>
                <a:latin typeface="DejaVu Sans"/>
                <a:ea typeface="DejaVu Sans"/>
                <a:cs typeface="DejaVu Sans"/>
              </a:rPr>
              <a:t>Insert the accepted payment</a:t>
            </a:r>
          </a:p>
        </p:txBody>
      </p:sp>
      <p:sp>
        <p:nvSpPr>
          <p:cNvPr id="4" name="text-3">
            <a:extLst xmlns:a="http://schemas.openxmlformats.org/drawingml/2006/main">
              <a:ext uri="{FF2B5EF4-FFF2-40B4-BE49-F238E27FC236}">
                <a16:creationId xmlns:a16="http://schemas.microsoft.com/office/drawing/2014/main" id="{6596913A-1A41-4B55-8E44-194CA674B5EB}"/>
              </a:ext>
            </a:extLst>
          </p:cNvPr>
          <p:cNvSpPr>
            <a:spLocks xmlns:a="http://schemas.openxmlformats.org/drawingml/2006/main" noGrp="1"/>
          </p:cNvSpPr>
          <p:nvPr/>
        </p:nvSpPr>
        <p:spPr>
          <a:xfrm xmlns:a="http://schemas.openxmlformats.org/drawingml/2006/main">
            <a:off x="7429500" y="1714500"/>
            <a:ext cx="4095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D38"/>
                </a:solidFill>
                <a:latin typeface="DejaVu Sans"/>
                <a:ea typeface="DejaVu Sans"/>
                <a:cs typeface="DejaVu Sans"/>
              </a:defRPr>
            </a:defPPr>
            <a:lvl1pPr>
              <a:defRPr sz="2025" b="0">
                <a:solidFill>
                  <a:srgbClr val="173D38"/>
                </a:solidFill>
                <a:latin typeface="DejaVu Sans"/>
                <a:ea typeface="DejaVu Sans"/>
                <a:cs typeface="DejaVu Sans"/>
              </a:defRPr>
            </a:lvl1pPr>
            <a:lvl2pPr>
              <a:defRPr sz="2025" b="0">
                <a:solidFill>
                  <a:srgbClr val="173D38"/>
                </a:solidFill>
                <a:latin typeface="DejaVu Sans"/>
                <a:ea typeface="DejaVu Sans"/>
                <a:cs typeface="DejaVu Sans"/>
              </a:defRPr>
            </a:lvl2pPr>
            <a:lvl3pPr>
              <a:defRPr sz="2025" b="0">
                <a:solidFill>
                  <a:srgbClr val="173D38"/>
                </a:solidFill>
                <a:latin typeface="DejaVu Sans"/>
                <a:ea typeface="DejaVu Sans"/>
                <a:cs typeface="DejaVu Sans"/>
              </a:defRPr>
            </a:lvl3pPr>
            <a:lvl4pPr>
              <a:defRPr sz="2025" b="0">
                <a:solidFill>
                  <a:srgbClr val="173D38"/>
                </a:solidFill>
                <a:latin typeface="DejaVu Sans"/>
                <a:ea typeface="DejaVu Sans"/>
                <a:cs typeface="DejaVu Sans"/>
              </a:defRPr>
            </a:lvl4pPr>
            <a:lvl5pPr>
              <a:defRPr sz="2025" b="0">
                <a:solidFill>
                  <a:srgbClr val="173D38"/>
                </a:solidFill>
                <a:latin typeface="DejaVu Sans"/>
                <a:ea typeface="DejaVu Sans"/>
                <a:cs typeface="DejaVu Sans"/>
              </a:defRPr>
            </a:lvl5pPr>
            <a:lvl6pPr>
              <a:defRPr sz="2025" b="0">
                <a:solidFill>
                  <a:srgbClr val="173D38"/>
                </a:solidFill>
                <a:latin typeface="DejaVu Sans"/>
                <a:ea typeface="DejaVu Sans"/>
                <a:cs typeface="DejaVu Sans"/>
              </a:defRPr>
            </a:lvl6pPr>
            <a:lvl7pPr>
              <a:defRPr sz="2025" b="0">
                <a:solidFill>
                  <a:srgbClr val="173D38"/>
                </a:solidFill>
                <a:latin typeface="DejaVu Sans"/>
                <a:ea typeface="DejaVu Sans"/>
                <a:cs typeface="DejaVu Sans"/>
              </a:defRPr>
            </a:lvl7pPr>
            <a:lvl8pPr>
              <a:defRPr sz="2025" b="0">
                <a:solidFill>
                  <a:srgbClr val="173D38"/>
                </a:solidFill>
                <a:latin typeface="DejaVu Sans"/>
                <a:ea typeface="DejaVu Sans"/>
                <a:cs typeface="DejaVu Sans"/>
              </a:defRPr>
            </a:lvl8pPr>
            <a:lvl9pPr>
              <a:defRPr sz="2025" b="0">
                <a:solidFill>
                  <a:srgbClr val="173D38"/>
                </a:solidFill>
                <a:latin typeface="DejaVu Sans"/>
                <a:ea typeface="DejaVu Sans"/>
                <a:cs typeface="DejaVu Sans"/>
              </a:defRPr>
            </a:lvl9pPr>
          </a:lstStyle>
          <a:p xmlns:a="http://schemas.openxmlformats.org/drawingml/2006/main">
            <a:pPr>
              <a:defRPr sz="2025" b="0">
                <a:solidFill>
                  <a:srgbClr val="173D38"/>
                </a:solidFill>
                <a:latin typeface="DejaVu Sans"/>
                <a:ea typeface="DejaVu Sans"/>
                <a:cs typeface="DejaVu Sans"/>
              </a:defRPr>
            </a:pPr>
            <a:r>
              <a:rPr sz="2025" b="0">
                <a:solidFill>
                  <a:srgbClr val="173D38"/>
                </a:solidFill>
                <a:latin typeface="DejaVu Sans"/>
                <a:ea typeface="DejaVu Sans"/>
                <a:cs typeface="DejaVu Sans"/>
              </a:rPr>
              <a:t>Procedure savepoint and rollback</a:t>
            </a:r>
          </a:p>
          <a:p xmlns:a="http://schemas.openxmlformats.org/drawingml/2006/main">
            <a:r>
              <a:t/>
            </a:r>
          </a:p>
          <a:p xmlns:a="http://schemas.openxmlformats.org/drawingml/2006/main">
            <a:pPr>
              <a:defRPr sz="2025" b="0">
                <a:solidFill>
                  <a:srgbClr val="173D38"/>
                </a:solidFill>
                <a:latin typeface="DejaVu Sans"/>
                <a:ea typeface="DejaVu Sans"/>
                <a:cs typeface="DejaVu Sans"/>
              </a:defRPr>
            </a:pPr>
            <a:r>
              <a:rPr sz="2025" b="0">
                <a:solidFill>
                  <a:srgbClr val="173D38"/>
                </a:solidFill>
                <a:latin typeface="DejaVu Sans"/>
                <a:ea typeface="DejaVu Sans"/>
                <a:cs typeface="DejaVu Sans"/>
              </a:rPr>
              <a:t>API commit on success</a:t>
            </a:r>
          </a:p>
          <a:p xmlns:a="http://schemas.openxmlformats.org/drawingml/2006/main">
            <a:pPr>
              <a:defRPr sz="2025" b="0">
                <a:solidFill>
                  <a:srgbClr val="173D38"/>
                </a:solidFill>
                <a:latin typeface="DejaVu Sans"/>
                <a:ea typeface="DejaVu Sans"/>
                <a:cs typeface="DejaVu Sans"/>
              </a:defRPr>
            </a:pPr>
            <a:r>
              <a:rPr sz="2025" b="0">
                <a:solidFill>
                  <a:srgbClr val="173D38"/>
                </a:solidFill>
                <a:latin typeface="DejaVu Sans"/>
                <a:ea typeface="DejaVu Sans"/>
                <a:cs typeface="DejaVu Sans"/>
              </a:rPr>
              <a:t>API rollback on failure</a:t>
            </a:r>
          </a:p>
        </p:txBody>
      </p:sp>
      <p:sp>
        <p:nvSpPr>
          <p:cNvPr id="5" name="text-4">
            <a:extLst xmlns:a="http://schemas.openxmlformats.org/drawingml/2006/main">
              <a:ext uri="{FF2B5EF4-FFF2-40B4-BE49-F238E27FC236}">
                <a16:creationId xmlns:a16="http://schemas.microsoft.com/office/drawing/2014/main" id="{4807E0A7-DF5E-42DA-B8A2-4DAC689A6F46}"/>
              </a:ext>
            </a:extLst>
          </p:cNvPr>
          <p:cNvSpPr>
            <a:spLocks xmlns:a="http://schemas.openxmlformats.org/drawingml/2006/main" noGrp="1"/>
          </p:cNvSpPr>
          <p:nvPr/>
        </p:nvSpPr>
        <p:spPr>
          <a:xfrm xmlns:a="http://schemas.openxmlformats.org/drawingml/2006/main">
            <a:off x="609600" y="51435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087E72"/>
                </a:solidFill>
                <a:latin typeface="DejaVu Sans"/>
                <a:ea typeface="DejaVu Sans"/>
                <a:cs typeface="DejaVu Sans"/>
              </a:defRPr>
            </a:defPPr>
            <a:lvl1pPr>
              <a:defRPr sz="2175" b="0">
                <a:solidFill>
                  <a:srgbClr val="087E72"/>
                </a:solidFill>
                <a:latin typeface="DejaVu Sans"/>
                <a:ea typeface="DejaVu Sans"/>
                <a:cs typeface="DejaVu Sans"/>
              </a:defRPr>
            </a:lvl1pPr>
            <a:lvl2pPr>
              <a:defRPr sz="2175" b="0">
                <a:solidFill>
                  <a:srgbClr val="087E72"/>
                </a:solidFill>
                <a:latin typeface="DejaVu Sans"/>
                <a:ea typeface="DejaVu Sans"/>
                <a:cs typeface="DejaVu Sans"/>
              </a:defRPr>
            </a:lvl2pPr>
            <a:lvl3pPr>
              <a:defRPr sz="2175" b="0">
                <a:solidFill>
                  <a:srgbClr val="087E72"/>
                </a:solidFill>
                <a:latin typeface="DejaVu Sans"/>
                <a:ea typeface="DejaVu Sans"/>
                <a:cs typeface="DejaVu Sans"/>
              </a:defRPr>
            </a:lvl3pPr>
            <a:lvl4pPr>
              <a:defRPr sz="2175" b="0">
                <a:solidFill>
                  <a:srgbClr val="087E72"/>
                </a:solidFill>
                <a:latin typeface="DejaVu Sans"/>
                <a:ea typeface="DejaVu Sans"/>
                <a:cs typeface="DejaVu Sans"/>
              </a:defRPr>
            </a:lvl4pPr>
            <a:lvl5pPr>
              <a:defRPr sz="2175" b="0">
                <a:solidFill>
                  <a:srgbClr val="087E72"/>
                </a:solidFill>
                <a:latin typeface="DejaVu Sans"/>
                <a:ea typeface="DejaVu Sans"/>
                <a:cs typeface="DejaVu Sans"/>
              </a:defRPr>
            </a:lvl5pPr>
            <a:lvl6pPr>
              <a:defRPr sz="2175" b="0">
                <a:solidFill>
                  <a:srgbClr val="087E72"/>
                </a:solidFill>
                <a:latin typeface="DejaVu Sans"/>
                <a:ea typeface="DejaVu Sans"/>
                <a:cs typeface="DejaVu Sans"/>
              </a:defRPr>
            </a:lvl6pPr>
            <a:lvl7pPr>
              <a:defRPr sz="2175" b="0">
                <a:solidFill>
                  <a:srgbClr val="087E72"/>
                </a:solidFill>
                <a:latin typeface="DejaVu Sans"/>
                <a:ea typeface="DejaVu Sans"/>
                <a:cs typeface="DejaVu Sans"/>
              </a:defRPr>
            </a:lvl7pPr>
            <a:lvl8pPr>
              <a:defRPr sz="2175" b="0">
                <a:solidFill>
                  <a:srgbClr val="087E72"/>
                </a:solidFill>
                <a:latin typeface="DejaVu Sans"/>
                <a:ea typeface="DejaVu Sans"/>
                <a:cs typeface="DejaVu Sans"/>
              </a:defRPr>
            </a:lvl8pPr>
            <a:lvl9pPr>
              <a:defRPr sz="2175" b="0">
                <a:solidFill>
                  <a:srgbClr val="087E72"/>
                </a:solidFill>
                <a:latin typeface="DejaVu Sans"/>
                <a:ea typeface="DejaVu Sans"/>
                <a:cs typeface="DejaVu Sans"/>
              </a:defRPr>
            </a:lvl9pPr>
          </a:lstStyle>
          <a:p xmlns:a="http://schemas.openxmlformats.org/drawingml/2006/main">
            <a:pPr>
              <a:defRPr sz="2175" b="0">
                <a:solidFill>
                  <a:srgbClr val="087E72"/>
                </a:solidFill>
                <a:latin typeface="DejaVu Sans"/>
                <a:ea typeface="DejaVu Sans"/>
                <a:cs typeface="DejaVu Sans"/>
              </a:defRPr>
            </a:pPr>
            <a:r>
              <a:rPr sz="2175" b="0">
                <a:solidFill>
                  <a:srgbClr val="087E72"/>
                </a:solidFill>
                <a:latin typeface="DejaVu Sans"/>
                <a:ea typeface="DejaVu Sans"/>
                <a:cs typeface="DejaVu Sans"/>
              </a:rPr>
              <a:t>Cross-row payment rules run inside MC_API</a:t>
            </a:r>
          </a:p>
        </p:txBody>
      </p:sp>
    </p:spTree>
    <p:extLst>
      <p:ext uri="{BB962C8B-B14F-4D97-AF65-F5344CB8AC3E}">
        <p14:creationId xmlns:p14="http://schemas.microsoft.com/office/powerpoint/2010/main" val="10618865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ADBDA9B-5C72-4920-9ADB-E489C99415C8}"/>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Partial payment evidence</a:t>
            </a:r>
          </a:p>
        </p:txBody>
      </p:sp>
      <p:sp>
        <p:nvSpPr>
          <p:cNvPr id="2" name="text-1">
            <a:extLst xmlns:a="http://schemas.openxmlformats.org/drawingml/2006/main">
              <a:ext uri="{FF2B5EF4-FFF2-40B4-BE49-F238E27FC236}">
                <a16:creationId xmlns:a16="http://schemas.microsoft.com/office/drawing/2014/main" id="{2671070A-8264-4AC8-B518-058B6BF22933}"/>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08428C64-F701-4003-B342-AD2EFC8AF1FC}"/>
              </a:ext>
            </a:extLst>
          </p:cNvPr>
          <p:cNvPicPr>
            <a:picLocks xmlns:a="http://schemas.openxmlformats.org/drawingml/2006/main" noChangeAspect="1"/>
          </p:cNvPicPr>
          <p:nvPr/>
        </p:nvPicPr>
        <p:blipFill>
          <a:blip xmlns:r="http://schemas.openxmlformats.org/officeDocument/2006/relationships" xmlns:a="http://schemas.openxmlformats.org/drawingml/2006/main" r:embed="R145cd8996575483a"/>
          <a:stretch xmlns:a="http://schemas.openxmlformats.org/drawingml/2006/main"/>
        </p:blipFill>
        <p:spPr>
          <a:xfrm xmlns:a="http://schemas.openxmlformats.org/drawingml/2006/main">
            <a:off x="4572000" y="1859682"/>
            <a:ext cx="6953250" cy="3748236"/>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3F47800C-BDE3-416B-8E33-CF9A306DE066}"/>
              </a:ext>
            </a:extLst>
          </p:cNvPr>
          <p:cNvSpPr>
            <a:spLocks xmlns:a="http://schemas.openxmlformats.org/drawingml/2006/main" noGrp="1"/>
          </p:cNvSpPr>
          <p:nvPr/>
        </p:nvSpPr>
        <p:spPr>
          <a:xfrm xmlns:a="http://schemas.openxmlformats.org/drawingml/2006/main">
            <a:off x="609600" y="1619250"/>
            <a:ext cx="3714750" cy="419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73D38"/>
                </a:solidFill>
                <a:latin typeface="DejaVu Sans"/>
                <a:ea typeface="DejaVu Sans"/>
                <a:cs typeface="DejaVu Sans"/>
              </a:defRPr>
            </a:defPPr>
            <a:lvl1pPr>
              <a:defRPr sz="2100" b="1">
                <a:solidFill>
                  <a:srgbClr val="173D38"/>
                </a:solidFill>
                <a:latin typeface="DejaVu Sans"/>
                <a:ea typeface="DejaVu Sans"/>
                <a:cs typeface="DejaVu Sans"/>
              </a:defRPr>
            </a:lvl1pPr>
            <a:lvl2pPr>
              <a:defRPr sz="2100" b="1">
                <a:solidFill>
                  <a:srgbClr val="173D38"/>
                </a:solidFill>
                <a:latin typeface="DejaVu Sans"/>
                <a:ea typeface="DejaVu Sans"/>
                <a:cs typeface="DejaVu Sans"/>
              </a:defRPr>
            </a:lvl2pPr>
            <a:lvl3pPr>
              <a:defRPr sz="2100" b="1">
                <a:solidFill>
                  <a:srgbClr val="173D38"/>
                </a:solidFill>
                <a:latin typeface="DejaVu Sans"/>
                <a:ea typeface="DejaVu Sans"/>
                <a:cs typeface="DejaVu Sans"/>
              </a:defRPr>
            </a:lvl3pPr>
            <a:lvl4pPr>
              <a:defRPr sz="2100" b="1">
                <a:solidFill>
                  <a:srgbClr val="173D38"/>
                </a:solidFill>
                <a:latin typeface="DejaVu Sans"/>
                <a:ea typeface="DejaVu Sans"/>
                <a:cs typeface="DejaVu Sans"/>
              </a:defRPr>
            </a:lvl4pPr>
            <a:lvl5pPr>
              <a:defRPr sz="2100" b="1">
                <a:solidFill>
                  <a:srgbClr val="173D38"/>
                </a:solidFill>
                <a:latin typeface="DejaVu Sans"/>
                <a:ea typeface="DejaVu Sans"/>
                <a:cs typeface="DejaVu Sans"/>
              </a:defRPr>
            </a:lvl5pPr>
            <a:lvl6pPr>
              <a:defRPr sz="2100" b="1">
                <a:solidFill>
                  <a:srgbClr val="173D38"/>
                </a:solidFill>
                <a:latin typeface="DejaVu Sans"/>
                <a:ea typeface="DejaVu Sans"/>
                <a:cs typeface="DejaVu Sans"/>
              </a:defRPr>
            </a:lvl6pPr>
            <a:lvl7pPr>
              <a:defRPr sz="2100" b="1">
                <a:solidFill>
                  <a:srgbClr val="173D38"/>
                </a:solidFill>
                <a:latin typeface="DejaVu Sans"/>
                <a:ea typeface="DejaVu Sans"/>
                <a:cs typeface="DejaVu Sans"/>
              </a:defRPr>
            </a:lvl7pPr>
            <a:lvl8pPr>
              <a:defRPr sz="2100" b="1">
                <a:solidFill>
                  <a:srgbClr val="173D38"/>
                </a:solidFill>
                <a:latin typeface="DejaVu Sans"/>
                <a:ea typeface="DejaVu Sans"/>
                <a:cs typeface="DejaVu Sans"/>
              </a:defRPr>
            </a:lvl8pPr>
            <a:lvl9pPr>
              <a:defRPr sz="2100" b="1">
                <a:solidFill>
                  <a:srgbClr val="173D38"/>
                </a:solidFill>
                <a:latin typeface="DejaVu Sans"/>
                <a:ea typeface="DejaVu Sans"/>
                <a:cs typeface="DejaVu Sans"/>
              </a:defRPr>
            </a:lvl9pPr>
          </a:lstStyle>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LKR 6,000</a:t>
            </a:r>
          </a:p>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Appointment fee</a:t>
            </a:r>
          </a:p>
          <a:p xmlns:a="http://schemas.openxmlformats.org/drawingml/2006/main">
            <a:r>
              <a:t/>
            </a:r>
          </a:p>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LKR 4,500</a:t>
            </a:r>
          </a:p>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Completed payment</a:t>
            </a:r>
          </a:p>
          <a:p xmlns:a="http://schemas.openxmlformats.org/drawingml/2006/main">
            <a:r>
              <a:t/>
            </a:r>
          </a:p>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LKR 1,500</a:t>
            </a:r>
          </a:p>
          <a:p xmlns:a="http://schemas.openxmlformats.org/drawingml/2006/main">
            <a:pPr>
              <a:defRPr sz="2100" b="1">
                <a:solidFill>
                  <a:srgbClr val="173D38"/>
                </a:solidFill>
                <a:latin typeface="DejaVu Sans"/>
                <a:ea typeface="DejaVu Sans"/>
                <a:cs typeface="DejaVu Sans"/>
              </a:defRPr>
            </a:pPr>
            <a:r>
              <a:rPr sz="2100" b="1">
                <a:solidFill>
                  <a:srgbClr val="173D38"/>
                </a:solidFill>
                <a:latin typeface="DejaVu Sans"/>
                <a:ea typeface="DejaVu Sans"/>
                <a:cs typeface="DejaVu Sans"/>
              </a:rPr>
              <a:t>Remaining balance</a:t>
            </a:r>
          </a:p>
        </p:txBody>
      </p:sp>
    </p:spTree>
    <p:extLst>
      <p:ext uri="{BB962C8B-B14F-4D97-AF65-F5344CB8AC3E}">
        <p14:creationId xmlns:p14="http://schemas.microsoft.com/office/powerpoint/2010/main" val="8667419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513EE63-E1FC-4284-88A4-098D9A420B34}"/>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Five business reports</a:t>
            </a:r>
          </a:p>
        </p:txBody>
      </p:sp>
      <p:sp>
        <p:nvSpPr>
          <p:cNvPr id="2" name="text-1">
            <a:extLst xmlns:a="http://schemas.openxmlformats.org/drawingml/2006/main">
              <a:ext uri="{FF2B5EF4-FFF2-40B4-BE49-F238E27FC236}">
                <a16:creationId xmlns:a16="http://schemas.microsoft.com/office/drawing/2014/main" id="{2B65C48D-7803-4F5A-83C2-3B02BE3D67EF}"/>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10</a:t>
            </a:r>
          </a:p>
        </p:txBody>
      </p:sp>
      <p:sp>
        <p:nvSpPr>
          <p:cNvPr id="3" name="text-2">
            <a:extLst xmlns:a="http://schemas.openxmlformats.org/drawingml/2006/main">
              <a:ext uri="{FF2B5EF4-FFF2-40B4-BE49-F238E27FC236}">
                <a16:creationId xmlns:a16="http://schemas.microsoft.com/office/drawing/2014/main" id="{63BFCC73-EBDB-4ABC-8A6B-BF30A97F3116}"/>
              </a:ext>
            </a:extLst>
          </p:cNvPr>
          <p:cNvSpPr>
            <a:spLocks xmlns:a="http://schemas.openxmlformats.org/drawingml/2006/main" noGrp="1"/>
          </p:cNvSpPr>
          <p:nvPr/>
        </p:nvSpPr>
        <p:spPr>
          <a:xfrm xmlns:a="http://schemas.openxmlformats.org/drawingml/2006/main">
            <a:off x="609600" y="151447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Appointment summary by date, clinic and status</a:t>
            </a:r>
          </a:p>
        </p:txBody>
      </p:sp>
      <p:sp>
        <p:nvSpPr>
          <p:cNvPr id="4" name="text-3">
            <a:extLst xmlns:a="http://schemas.openxmlformats.org/drawingml/2006/main">
              <a:ext uri="{FF2B5EF4-FFF2-40B4-BE49-F238E27FC236}">
                <a16:creationId xmlns:a16="http://schemas.microsoft.com/office/drawing/2014/main" id="{FD576680-0B7D-41DF-B8ED-3B50037793CB}"/>
              </a:ext>
            </a:extLst>
          </p:cNvPr>
          <p:cNvSpPr>
            <a:spLocks xmlns:a="http://schemas.openxmlformats.org/drawingml/2006/main" noGrp="1"/>
          </p:cNvSpPr>
          <p:nvPr/>
        </p:nvSpPr>
        <p:spPr>
          <a:xfrm xmlns:a="http://schemas.openxmlformats.org/drawingml/2006/main">
            <a:off x="609600" y="238125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Doctor workload with booking outcomes</a:t>
            </a:r>
          </a:p>
        </p:txBody>
      </p:sp>
      <p:sp>
        <p:nvSpPr>
          <p:cNvPr id="5" name="text-4">
            <a:extLst xmlns:a="http://schemas.openxmlformats.org/drawingml/2006/main">
              <a:ext uri="{FF2B5EF4-FFF2-40B4-BE49-F238E27FC236}">
                <a16:creationId xmlns:a16="http://schemas.microsoft.com/office/drawing/2014/main" id="{FFAB1B03-EDED-46A7-A8E5-1D9D1850651C}"/>
              </a:ext>
            </a:extLst>
          </p:cNvPr>
          <p:cNvSpPr>
            <a:spLocks xmlns:a="http://schemas.openxmlformats.org/drawingml/2006/main" noGrp="1"/>
          </p:cNvSpPr>
          <p:nvPr/>
        </p:nvSpPr>
        <p:spPr>
          <a:xfrm xmlns:a="http://schemas.openxmlformats.org/drawingml/2006/main">
            <a:off x="609600" y="324802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Clinic revenue from completed payments</a:t>
            </a:r>
          </a:p>
        </p:txBody>
      </p:sp>
      <p:sp>
        <p:nvSpPr>
          <p:cNvPr id="6" name="text-5">
            <a:extLst xmlns:a="http://schemas.openxmlformats.org/drawingml/2006/main">
              <a:ext uri="{FF2B5EF4-FFF2-40B4-BE49-F238E27FC236}">
                <a16:creationId xmlns:a16="http://schemas.microsoft.com/office/drawing/2014/main" id="{F82ECAE3-DE6A-42B6-BD9D-66DC59DA69F3}"/>
              </a:ext>
            </a:extLst>
          </p:cNvPr>
          <p:cNvSpPr>
            <a:spLocks xmlns:a="http://schemas.openxmlformats.org/drawingml/2006/main" noGrp="1"/>
          </p:cNvSpPr>
          <p:nvPr/>
        </p:nvSpPr>
        <p:spPr>
          <a:xfrm xmlns:a="http://schemas.openxmlformats.org/drawingml/2006/main">
            <a:off x="609600" y="411480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Outstanding balances for unpaid appointments</a:t>
            </a:r>
          </a:p>
        </p:txBody>
      </p:sp>
      <p:sp>
        <p:nvSpPr>
          <p:cNvPr id="7" name="text-6">
            <a:extLst xmlns:a="http://schemas.openxmlformats.org/drawingml/2006/main">
              <a:ext uri="{FF2B5EF4-FFF2-40B4-BE49-F238E27FC236}">
                <a16:creationId xmlns:a16="http://schemas.microsoft.com/office/drawing/2014/main" id="{45312582-2812-48E7-B5A5-28951C564AC4}"/>
              </a:ext>
            </a:extLst>
          </p:cNvPr>
          <p:cNvSpPr>
            <a:spLocks xmlns:a="http://schemas.openxmlformats.org/drawingml/2006/main" noGrp="1"/>
          </p:cNvSpPr>
          <p:nvPr/>
        </p:nvSpPr>
        <p:spPr>
          <a:xfrm xmlns:a="http://schemas.openxmlformats.org/drawingml/2006/main">
            <a:off x="609600" y="498157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Patient consultation and prescription history</a:t>
            </a:r>
          </a:p>
        </p:txBody>
      </p:sp>
    </p:spTree>
    <p:extLst>
      <p:ext uri="{BB962C8B-B14F-4D97-AF65-F5344CB8AC3E}">
        <p14:creationId xmlns:p14="http://schemas.microsoft.com/office/powerpoint/2010/main" val="20558561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3A4BD57-79A1-4BCA-A989-EC6341C23DE7}"/>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Validation and testing evidence</a:t>
            </a:r>
          </a:p>
        </p:txBody>
      </p:sp>
      <p:sp>
        <p:nvSpPr>
          <p:cNvPr id="2" name="text-1">
            <a:extLst xmlns:a="http://schemas.openxmlformats.org/drawingml/2006/main">
              <a:ext uri="{FF2B5EF4-FFF2-40B4-BE49-F238E27FC236}">
                <a16:creationId xmlns:a16="http://schemas.microsoft.com/office/drawing/2014/main" id="{C19C339E-55AB-4808-91D3-DB7B7B279E19}"/>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11</a:t>
            </a:r>
          </a:p>
        </p:txBody>
      </p:sp>
      <p:pic>
        <p:nvPicPr>
          <p:cNvPr id="3" name="">
            <a:extLst xmlns:a="http://schemas.openxmlformats.org/drawingml/2006/main">
              <a:ext uri="{FF2B5EF4-FFF2-40B4-BE49-F238E27FC236}">
                <a16:creationId xmlns:a16="http://schemas.microsoft.com/office/drawing/2014/main" id="{0E67C0AD-0A21-4D20-9742-E1955F55F5D6}"/>
              </a:ext>
            </a:extLst>
          </p:cNvPr>
          <p:cNvPicPr>
            <a:picLocks xmlns:a="http://schemas.openxmlformats.org/drawingml/2006/main" noChangeAspect="1"/>
          </p:cNvPicPr>
          <p:nvPr/>
        </p:nvPicPr>
        <p:blipFill>
          <a:blip xmlns:r="http://schemas.openxmlformats.org/officeDocument/2006/relationships" xmlns:a="http://schemas.openxmlformats.org/drawingml/2006/main" r:embed="R915f19c1abae4c86"/>
          <a:stretch xmlns:a="http://schemas.openxmlformats.org/drawingml/2006/main"/>
        </p:blipFill>
        <p:spPr>
          <a:xfrm xmlns:a="http://schemas.openxmlformats.org/drawingml/2006/main">
            <a:off x="5734050" y="2075408"/>
            <a:ext cx="5905500" cy="318343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9E1F1DF4-1088-413B-BD36-5FC7C0C5DD9C}"/>
              </a:ext>
            </a:extLst>
          </p:cNvPr>
          <p:cNvSpPr>
            <a:spLocks xmlns:a="http://schemas.openxmlformats.org/drawingml/2006/main" noGrp="1"/>
          </p:cNvSpPr>
          <p:nvPr/>
        </p:nvSpPr>
        <p:spPr>
          <a:xfrm xmlns:a="http://schemas.openxmlformats.org/drawingml/2006/main">
            <a:off x="5734050" y="14287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D38"/>
                </a:solidFill>
                <a:latin typeface="DejaVu Sans"/>
                <a:ea typeface="DejaVu Sans"/>
                <a:cs typeface="DejaVu Sans"/>
              </a:defRPr>
            </a:defPPr>
            <a:lvl1pPr>
              <a:defRPr sz="1800" b="0">
                <a:solidFill>
                  <a:srgbClr val="173D38"/>
                </a:solidFill>
                <a:latin typeface="DejaVu Sans"/>
                <a:ea typeface="DejaVu Sans"/>
                <a:cs typeface="DejaVu Sans"/>
              </a:defRPr>
            </a:lvl1pPr>
            <a:lvl2pPr>
              <a:defRPr sz="1800" b="0">
                <a:solidFill>
                  <a:srgbClr val="173D38"/>
                </a:solidFill>
                <a:latin typeface="DejaVu Sans"/>
                <a:ea typeface="DejaVu Sans"/>
                <a:cs typeface="DejaVu Sans"/>
              </a:defRPr>
            </a:lvl2pPr>
            <a:lvl3pPr>
              <a:defRPr sz="1800" b="0">
                <a:solidFill>
                  <a:srgbClr val="173D38"/>
                </a:solidFill>
                <a:latin typeface="DejaVu Sans"/>
                <a:ea typeface="DejaVu Sans"/>
                <a:cs typeface="DejaVu Sans"/>
              </a:defRPr>
            </a:lvl3pPr>
            <a:lvl4pPr>
              <a:defRPr sz="1800" b="0">
                <a:solidFill>
                  <a:srgbClr val="173D38"/>
                </a:solidFill>
                <a:latin typeface="DejaVu Sans"/>
                <a:ea typeface="DejaVu Sans"/>
                <a:cs typeface="DejaVu Sans"/>
              </a:defRPr>
            </a:lvl4pPr>
            <a:lvl5pPr>
              <a:defRPr sz="1800" b="0">
                <a:solidFill>
                  <a:srgbClr val="173D38"/>
                </a:solidFill>
                <a:latin typeface="DejaVu Sans"/>
                <a:ea typeface="DejaVu Sans"/>
                <a:cs typeface="DejaVu Sans"/>
              </a:defRPr>
            </a:lvl5pPr>
            <a:lvl6pPr>
              <a:defRPr sz="1800" b="0">
                <a:solidFill>
                  <a:srgbClr val="173D38"/>
                </a:solidFill>
                <a:latin typeface="DejaVu Sans"/>
                <a:ea typeface="DejaVu Sans"/>
                <a:cs typeface="DejaVu Sans"/>
              </a:defRPr>
            </a:lvl6pPr>
            <a:lvl7pPr>
              <a:defRPr sz="1800" b="0">
                <a:solidFill>
                  <a:srgbClr val="173D38"/>
                </a:solidFill>
                <a:latin typeface="DejaVu Sans"/>
                <a:ea typeface="DejaVu Sans"/>
                <a:cs typeface="DejaVu Sans"/>
              </a:defRPr>
            </a:lvl7pPr>
            <a:lvl8pPr>
              <a:defRPr sz="1800" b="0">
                <a:solidFill>
                  <a:srgbClr val="173D38"/>
                </a:solidFill>
                <a:latin typeface="DejaVu Sans"/>
                <a:ea typeface="DejaVu Sans"/>
                <a:cs typeface="DejaVu Sans"/>
              </a:defRPr>
            </a:lvl8pPr>
            <a:lvl9pPr>
              <a:defRPr sz="1800" b="0">
                <a:solidFill>
                  <a:srgbClr val="173D38"/>
                </a:solidFill>
                <a:latin typeface="DejaVu Sans"/>
                <a:ea typeface="DejaVu Sans"/>
                <a:cs typeface="DejaVu Sans"/>
              </a:defRPr>
            </a:lvl9pPr>
          </a:lstStyle>
          <a:p xmlns:a="http://schemas.openxmlformats.org/drawingml/2006/main">
            <a:pPr>
              <a:defRPr sz="1800" b="0">
                <a:solidFill>
                  <a:srgbClr val="173D38"/>
                </a:solidFill>
                <a:latin typeface="DejaVu Sans"/>
                <a:ea typeface="DejaVu Sans"/>
                <a:cs typeface="DejaVu Sans"/>
              </a:defRPr>
            </a:pPr>
            <a:r>
              <a:rPr sz="1800" b="0">
                <a:solidFill>
                  <a:srgbClr val="173D38"/>
                </a:solidFill>
                <a:latin typeface="DejaVu Sans"/>
                <a:ea typeface="DejaVu Sans"/>
                <a:cs typeface="DejaVu Sans"/>
              </a:rPr>
              <a:t>Browser form validation</a:t>
            </a:r>
          </a:p>
        </p:txBody>
      </p:sp>
      <p:sp>
        <p:nvSpPr>
          <p:cNvPr id="5" name="text-3">
            <a:extLst xmlns:a="http://schemas.openxmlformats.org/drawingml/2006/main">
              <a:ext uri="{FF2B5EF4-FFF2-40B4-BE49-F238E27FC236}">
                <a16:creationId xmlns:a16="http://schemas.microsoft.com/office/drawing/2014/main" id="{834DFDE8-444D-427E-B7D9-BCAC5A7D1D41}"/>
              </a:ext>
            </a:extLst>
          </p:cNvPr>
          <p:cNvSpPr>
            <a:spLocks xmlns:a="http://schemas.openxmlformats.org/drawingml/2006/main" noGrp="1"/>
          </p:cNvSpPr>
          <p:nvPr/>
        </p:nvSpPr>
        <p:spPr>
          <a:xfrm xmlns:a="http://schemas.openxmlformats.org/drawingml/2006/main">
            <a:off x="609600" y="1666875"/>
            <a:ext cx="4905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D38"/>
                </a:solidFill>
                <a:latin typeface="DejaVu Sans"/>
                <a:ea typeface="DejaVu Sans"/>
                <a:cs typeface="DejaVu Sans"/>
              </a:defRPr>
            </a:defPPr>
            <a:lvl1pPr>
              <a:defRPr sz="2175" b="1">
                <a:solidFill>
                  <a:srgbClr val="173D38"/>
                </a:solidFill>
                <a:latin typeface="DejaVu Sans"/>
                <a:ea typeface="DejaVu Sans"/>
                <a:cs typeface="DejaVu Sans"/>
              </a:defRPr>
            </a:lvl1pPr>
            <a:lvl2pPr>
              <a:defRPr sz="2175" b="1">
                <a:solidFill>
                  <a:srgbClr val="173D38"/>
                </a:solidFill>
                <a:latin typeface="DejaVu Sans"/>
                <a:ea typeface="DejaVu Sans"/>
                <a:cs typeface="DejaVu Sans"/>
              </a:defRPr>
            </a:lvl2pPr>
            <a:lvl3pPr>
              <a:defRPr sz="2175" b="1">
                <a:solidFill>
                  <a:srgbClr val="173D38"/>
                </a:solidFill>
                <a:latin typeface="DejaVu Sans"/>
                <a:ea typeface="DejaVu Sans"/>
                <a:cs typeface="DejaVu Sans"/>
              </a:defRPr>
            </a:lvl3pPr>
            <a:lvl4pPr>
              <a:defRPr sz="2175" b="1">
                <a:solidFill>
                  <a:srgbClr val="173D38"/>
                </a:solidFill>
                <a:latin typeface="DejaVu Sans"/>
                <a:ea typeface="DejaVu Sans"/>
                <a:cs typeface="DejaVu Sans"/>
              </a:defRPr>
            </a:lvl4pPr>
            <a:lvl5pPr>
              <a:defRPr sz="2175" b="1">
                <a:solidFill>
                  <a:srgbClr val="173D38"/>
                </a:solidFill>
                <a:latin typeface="DejaVu Sans"/>
                <a:ea typeface="DejaVu Sans"/>
                <a:cs typeface="DejaVu Sans"/>
              </a:defRPr>
            </a:lvl5pPr>
            <a:lvl6pPr>
              <a:defRPr sz="2175" b="1">
                <a:solidFill>
                  <a:srgbClr val="173D38"/>
                </a:solidFill>
                <a:latin typeface="DejaVu Sans"/>
                <a:ea typeface="DejaVu Sans"/>
                <a:cs typeface="DejaVu Sans"/>
              </a:defRPr>
            </a:lvl6pPr>
            <a:lvl7pPr>
              <a:defRPr sz="2175" b="1">
                <a:solidFill>
                  <a:srgbClr val="173D38"/>
                </a:solidFill>
                <a:latin typeface="DejaVu Sans"/>
                <a:ea typeface="DejaVu Sans"/>
                <a:cs typeface="DejaVu Sans"/>
              </a:defRPr>
            </a:lvl7pPr>
            <a:lvl8pPr>
              <a:defRPr sz="2175" b="1">
                <a:solidFill>
                  <a:srgbClr val="173D38"/>
                </a:solidFill>
                <a:latin typeface="DejaVu Sans"/>
                <a:ea typeface="DejaVu Sans"/>
                <a:cs typeface="DejaVu Sans"/>
              </a:defRPr>
            </a:lvl8pPr>
            <a:lvl9pPr>
              <a:defRPr sz="2175" b="1">
                <a:solidFill>
                  <a:srgbClr val="173D38"/>
                </a:solidFill>
                <a:latin typeface="DejaVu Sans"/>
                <a:ea typeface="DejaVu Sans"/>
                <a:cs typeface="DejaVu Sans"/>
              </a:defRPr>
            </a:lvl9pPr>
          </a:lstStyle>
          <a:p xmlns:a="http://schemas.openxmlformats.org/drawingml/2006/main">
            <a:pPr>
              <a:defRPr sz="2175" b="1">
                <a:solidFill>
                  <a:srgbClr val="173D38"/>
                </a:solidFill>
                <a:latin typeface="DejaVu Sans"/>
                <a:ea typeface="DejaVu Sans"/>
                <a:cs typeface="DejaVu Sans"/>
              </a:defRPr>
            </a:pPr>
            <a:r>
              <a:rPr sz="2175" b="1">
                <a:solidFill>
                  <a:srgbClr val="173D38"/>
                </a:solidFill>
                <a:latin typeface="DejaVu Sans"/>
                <a:ea typeface="DejaVu Sans"/>
                <a:cs typeface="DejaVu Sans"/>
              </a:rPr>
              <a:t>Direct API request</a:t>
            </a:r>
          </a:p>
          <a:p xmlns:a="http://schemas.openxmlformats.org/drawingml/2006/main">
            <a:pPr>
              <a:defRPr sz="2175" b="1">
                <a:solidFill>
                  <a:srgbClr val="173D38"/>
                </a:solidFill>
                <a:latin typeface="DejaVu Sans"/>
                <a:ea typeface="DejaVu Sans"/>
                <a:cs typeface="DejaVu Sans"/>
              </a:defRPr>
            </a:pPr>
            <a:r>
              <a:rPr sz="2175" b="1">
                <a:solidFill>
                  <a:srgbClr val="173D38"/>
                </a:solidFill>
                <a:latin typeface="DejaVu Sans"/>
                <a:ea typeface="DejaVu Sans"/>
                <a:cs typeface="DejaVu Sans"/>
              </a:rPr>
              <a:t>LKR 2,000 against LKR 1,500 due</a:t>
            </a:r>
          </a:p>
        </p:txBody>
      </p:sp>
      <p:sp>
        <p:nvSpPr>
          <p:cNvPr id="6" name="text-4">
            <a:extLst xmlns:a="http://schemas.openxmlformats.org/drawingml/2006/main">
              <a:ext uri="{FF2B5EF4-FFF2-40B4-BE49-F238E27FC236}">
                <a16:creationId xmlns:a16="http://schemas.microsoft.com/office/drawing/2014/main" id="{B7AE0260-C9E8-476E-A7A5-661031BC20E7}"/>
              </a:ext>
            </a:extLst>
          </p:cNvPr>
          <p:cNvSpPr>
            <a:spLocks xmlns:a="http://schemas.openxmlformats.org/drawingml/2006/main" noGrp="1"/>
          </p:cNvSpPr>
          <p:nvPr/>
        </p:nvSpPr>
        <p:spPr>
          <a:xfrm xmlns:a="http://schemas.openxmlformats.org/drawingml/2006/main">
            <a:off x="609600" y="3095625"/>
            <a:ext cx="4905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087E72"/>
                </a:solidFill>
                <a:latin typeface="DejaVu Sans"/>
                <a:ea typeface="DejaVu Sans"/>
                <a:cs typeface="DejaVu Sans"/>
              </a:defRPr>
            </a:defPPr>
            <a:lvl1pPr>
              <a:defRPr sz="2100" b="0">
                <a:solidFill>
                  <a:srgbClr val="087E72"/>
                </a:solidFill>
                <a:latin typeface="DejaVu Sans"/>
                <a:ea typeface="DejaVu Sans"/>
                <a:cs typeface="DejaVu Sans"/>
              </a:defRPr>
            </a:lvl1pPr>
            <a:lvl2pPr>
              <a:defRPr sz="2100" b="0">
                <a:solidFill>
                  <a:srgbClr val="087E72"/>
                </a:solidFill>
                <a:latin typeface="DejaVu Sans"/>
                <a:ea typeface="DejaVu Sans"/>
                <a:cs typeface="DejaVu Sans"/>
              </a:defRPr>
            </a:lvl2pPr>
            <a:lvl3pPr>
              <a:defRPr sz="2100" b="0">
                <a:solidFill>
                  <a:srgbClr val="087E72"/>
                </a:solidFill>
                <a:latin typeface="DejaVu Sans"/>
                <a:ea typeface="DejaVu Sans"/>
                <a:cs typeface="DejaVu Sans"/>
              </a:defRPr>
            </a:lvl3pPr>
            <a:lvl4pPr>
              <a:defRPr sz="2100" b="0">
                <a:solidFill>
                  <a:srgbClr val="087E72"/>
                </a:solidFill>
                <a:latin typeface="DejaVu Sans"/>
                <a:ea typeface="DejaVu Sans"/>
                <a:cs typeface="DejaVu Sans"/>
              </a:defRPr>
            </a:lvl4pPr>
            <a:lvl5pPr>
              <a:defRPr sz="2100" b="0">
                <a:solidFill>
                  <a:srgbClr val="087E72"/>
                </a:solidFill>
                <a:latin typeface="DejaVu Sans"/>
                <a:ea typeface="DejaVu Sans"/>
                <a:cs typeface="DejaVu Sans"/>
              </a:defRPr>
            </a:lvl5pPr>
            <a:lvl6pPr>
              <a:defRPr sz="2100" b="0">
                <a:solidFill>
                  <a:srgbClr val="087E72"/>
                </a:solidFill>
                <a:latin typeface="DejaVu Sans"/>
                <a:ea typeface="DejaVu Sans"/>
                <a:cs typeface="DejaVu Sans"/>
              </a:defRPr>
            </a:lvl6pPr>
            <a:lvl7pPr>
              <a:defRPr sz="2100" b="0">
                <a:solidFill>
                  <a:srgbClr val="087E72"/>
                </a:solidFill>
                <a:latin typeface="DejaVu Sans"/>
                <a:ea typeface="DejaVu Sans"/>
                <a:cs typeface="DejaVu Sans"/>
              </a:defRPr>
            </a:lvl7pPr>
            <a:lvl8pPr>
              <a:defRPr sz="2100" b="0">
                <a:solidFill>
                  <a:srgbClr val="087E72"/>
                </a:solidFill>
                <a:latin typeface="DejaVu Sans"/>
                <a:ea typeface="DejaVu Sans"/>
                <a:cs typeface="DejaVu Sans"/>
              </a:defRPr>
            </a:lvl8pPr>
            <a:lvl9pPr>
              <a:defRPr sz="2100" b="0">
                <a:solidFill>
                  <a:srgbClr val="087E72"/>
                </a:solidFill>
                <a:latin typeface="DejaVu Sans"/>
                <a:ea typeface="DejaVu Sans"/>
                <a:cs typeface="DejaVu Sans"/>
              </a:defRPr>
            </a:lvl9pPr>
          </a:lstStyle>
          <a:p xmlns:a="http://schemas.openxmlformats.org/drawingml/2006/main">
            <a:pPr>
              <a:defRPr sz="2100" b="0">
                <a:solidFill>
                  <a:srgbClr val="087E72"/>
                </a:solidFill>
                <a:latin typeface="DejaVu Sans"/>
                <a:ea typeface="DejaVu Sans"/>
                <a:cs typeface="DejaVu Sans"/>
              </a:defRPr>
            </a:pPr>
            <a:r>
              <a:rPr sz="2100" b="0">
                <a:solidFill>
                  <a:srgbClr val="087E72"/>
                </a:solidFill>
                <a:latin typeface="DejaVu Sans"/>
                <a:ea typeface="DejaVu Sans"/>
                <a:cs typeface="DejaVu Sans"/>
              </a:rPr>
              <a:t>ORA-20110</a:t>
            </a:r>
          </a:p>
          <a:p xmlns:a="http://schemas.openxmlformats.org/drawingml/2006/main">
            <a:pPr>
              <a:defRPr sz="2100" b="0">
                <a:solidFill>
                  <a:srgbClr val="087E72"/>
                </a:solidFill>
                <a:latin typeface="DejaVu Sans"/>
                <a:ea typeface="DejaVu Sans"/>
                <a:cs typeface="DejaVu Sans"/>
              </a:defRPr>
            </a:pPr>
            <a:r>
              <a:rPr sz="2100" b="0">
                <a:solidFill>
                  <a:srgbClr val="087E72"/>
                </a:solidFill>
                <a:latin typeface="DejaVu Sans"/>
                <a:ea typeface="DejaVu Sans"/>
                <a:cs typeface="DejaVu Sans"/>
              </a:rPr>
              <a:t>Payment exceeds the</a:t>
            </a:r>
          </a:p>
          <a:p xmlns:a="http://schemas.openxmlformats.org/drawingml/2006/main">
            <a:pPr>
              <a:defRPr sz="2100" b="0">
                <a:solidFill>
                  <a:srgbClr val="087E72"/>
                </a:solidFill>
                <a:latin typeface="DejaVu Sans"/>
                <a:ea typeface="DejaVu Sans"/>
                <a:cs typeface="DejaVu Sans"/>
              </a:defRPr>
            </a:pPr>
            <a:r>
              <a:rPr sz="2100" b="0">
                <a:solidFill>
                  <a:srgbClr val="087E72"/>
                </a:solidFill>
                <a:latin typeface="DejaVu Sans"/>
                <a:ea typeface="DejaVu Sans"/>
                <a:cs typeface="DejaVu Sans"/>
              </a:rPr>
              <a:t>outstanding balance.</a:t>
            </a:r>
          </a:p>
        </p:txBody>
      </p:sp>
      <p:sp>
        <p:nvSpPr>
          <p:cNvPr id="7" name="text-5">
            <a:extLst xmlns:a="http://schemas.openxmlformats.org/drawingml/2006/main">
              <a:ext uri="{FF2B5EF4-FFF2-40B4-BE49-F238E27FC236}">
                <a16:creationId xmlns:a16="http://schemas.microsoft.com/office/drawing/2014/main" id="{18CEAAAA-1CDA-4F69-A12D-196D204BB1C6}"/>
              </a:ext>
            </a:extLst>
          </p:cNvPr>
          <p:cNvSpPr>
            <a:spLocks xmlns:a="http://schemas.openxmlformats.org/drawingml/2006/main" noGrp="1"/>
          </p:cNvSpPr>
          <p:nvPr/>
        </p:nvSpPr>
        <p:spPr>
          <a:xfrm xmlns:a="http://schemas.openxmlformats.org/drawingml/2006/main">
            <a:off x="609600" y="4810125"/>
            <a:ext cx="4905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D38"/>
                </a:solidFill>
                <a:latin typeface="DejaVu Sans"/>
                <a:ea typeface="DejaVu Sans"/>
                <a:cs typeface="DejaVu Sans"/>
              </a:defRPr>
            </a:defPPr>
            <a:lvl1pPr>
              <a:defRPr sz="1950" b="0">
                <a:solidFill>
                  <a:srgbClr val="173D38"/>
                </a:solidFill>
                <a:latin typeface="DejaVu Sans"/>
                <a:ea typeface="DejaVu Sans"/>
                <a:cs typeface="DejaVu Sans"/>
              </a:defRPr>
            </a:lvl1pPr>
            <a:lvl2pPr>
              <a:defRPr sz="1950" b="0">
                <a:solidFill>
                  <a:srgbClr val="173D38"/>
                </a:solidFill>
                <a:latin typeface="DejaVu Sans"/>
                <a:ea typeface="DejaVu Sans"/>
                <a:cs typeface="DejaVu Sans"/>
              </a:defRPr>
            </a:lvl2pPr>
            <a:lvl3pPr>
              <a:defRPr sz="1950" b="0">
                <a:solidFill>
                  <a:srgbClr val="173D38"/>
                </a:solidFill>
                <a:latin typeface="DejaVu Sans"/>
                <a:ea typeface="DejaVu Sans"/>
                <a:cs typeface="DejaVu Sans"/>
              </a:defRPr>
            </a:lvl3pPr>
            <a:lvl4pPr>
              <a:defRPr sz="1950" b="0">
                <a:solidFill>
                  <a:srgbClr val="173D38"/>
                </a:solidFill>
                <a:latin typeface="DejaVu Sans"/>
                <a:ea typeface="DejaVu Sans"/>
                <a:cs typeface="DejaVu Sans"/>
              </a:defRPr>
            </a:lvl4pPr>
            <a:lvl5pPr>
              <a:defRPr sz="1950" b="0">
                <a:solidFill>
                  <a:srgbClr val="173D38"/>
                </a:solidFill>
                <a:latin typeface="DejaVu Sans"/>
                <a:ea typeface="DejaVu Sans"/>
                <a:cs typeface="DejaVu Sans"/>
              </a:defRPr>
            </a:lvl5pPr>
            <a:lvl6pPr>
              <a:defRPr sz="1950" b="0">
                <a:solidFill>
                  <a:srgbClr val="173D38"/>
                </a:solidFill>
                <a:latin typeface="DejaVu Sans"/>
                <a:ea typeface="DejaVu Sans"/>
                <a:cs typeface="DejaVu Sans"/>
              </a:defRPr>
            </a:lvl6pPr>
            <a:lvl7pPr>
              <a:defRPr sz="1950" b="0">
                <a:solidFill>
                  <a:srgbClr val="173D38"/>
                </a:solidFill>
                <a:latin typeface="DejaVu Sans"/>
                <a:ea typeface="DejaVu Sans"/>
                <a:cs typeface="DejaVu Sans"/>
              </a:defRPr>
            </a:lvl7pPr>
            <a:lvl8pPr>
              <a:defRPr sz="1950" b="0">
                <a:solidFill>
                  <a:srgbClr val="173D38"/>
                </a:solidFill>
                <a:latin typeface="DejaVu Sans"/>
                <a:ea typeface="DejaVu Sans"/>
                <a:cs typeface="DejaVu Sans"/>
              </a:defRPr>
            </a:lvl8pPr>
            <a:lvl9pPr>
              <a:defRPr sz="1950" b="0">
                <a:solidFill>
                  <a:srgbClr val="173D38"/>
                </a:solidFill>
                <a:latin typeface="DejaVu Sans"/>
                <a:ea typeface="DejaVu Sans"/>
                <a:cs typeface="DejaVu Sans"/>
              </a:defRPr>
            </a:lvl9pPr>
          </a:lstStyle>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Balance stayed LKR 1,500</a:t>
            </a:r>
          </a:p>
          <a:p xmlns:a="http://schemas.openxmlformats.org/drawingml/2006/main">
            <a:pPr>
              <a:defRPr sz="1950" b="0">
                <a:solidFill>
                  <a:srgbClr val="173D38"/>
                </a:solidFill>
                <a:latin typeface="DejaVu Sans"/>
                <a:ea typeface="DejaVu Sans"/>
                <a:cs typeface="DejaVu Sans"/>
              </a:defRPr>
            </a:pPr>
            <a:r>
              <a:rPr sz="1950" b="0">
                <a:solidFill>
                  <a:srgbClr val="173D38"/>
                </a:solidFill>
                <a:latin typeface="DejaVu Sans"/>
                <a:ea typeface="DejaVu Sans"/>
                <a:cs typeface="DejaVu Sans"/>
              </a:rPr>
              <a:t>No extra payment saved</a:t>
            </a:r>
          </a:p>
        </p:txBody>
      </p:sp>
    </p:spTree>
    <p:extLst>
      <p:ext uri="{BB962C8B-B14F-4D97-AF65-F5344CB8AC3E}">
        <p14:creationId xmlns:p14="http://schemas.microsoft.com/office/powerpoint/2010/main" val="10221465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A2051A8-26AB-4D45-8F60-0F8273E99627}"/>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Live demonstration</a:t>
            </a:r>
          </a:p>
        </p:txBody>
      </p:sp>
      <p:sp>
        <p:nvSpPr>
          <p:cNvPr id="2" name="text-1">
            <a:extLst xmlns:a="http://schemas.openxmlformats.org/drawingml/2006/main">
              <a:ext uri="{FF2B5EF4-FFF2-40B4-BE49-F238E27FC236}">
                <a16:creationId xmlns:a16="http://schemas.microsoft.com/office/drawing/2014/main" id="{576E5128-9354-40FC-A45B-68EE8ED024C2}"/>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12</a:t>
            </a:r>
          </a:p>
        </p:txBody>
      </p:sp>
      <p:sp>
        <p:nvSpPr>
          <p:cNvPr id="3" name="text-2">
            <a:extLst xmlns:a="http://schemas.openxmlformats.org/drawingml/2006/main">
              <a:ext uri="{FF2B5EF4-FFF2-40B4-BE49-F238E27FC236}">
                <a16:creationId xmlns:a16="http://schemas.microsoft.com/office/drawing/2014/main" id="{F31E8A9B-29CB-433F-B8CE-7AC14AB10FDC}"/>
              </a:ext>
            </a:extLst>
          </p:cNvPr>
          <p:cNvSpPr>
            <a:spLocks xmlns:a="http://schemas.openxmlformats.org/drawingml/2006/main" noGrp="1"/>
          </p:cNvSpPr>
          <p:nvPr/>
        </p:nvSpPr>
        <p:spPr>
          <a:xfrm xmlns:a="http://schemas.openxmlformats.org/drawingml/2006/main">
            <a:off x="609600" y="150495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1  Patient and doctor registration</a:t>
            </a:r>
          </a:p>
        </p:txBody>
      </p:sp>
      <p:sp>
        <p:nvSpPr>
          <p:cNvPr id="4" name="text-3">
            <a:extLst xmlns:a="http://schemas.openxmlformats.org/drawingml/2006/main">
              <a:ext uri="{FF2B5EF4-FFF2-40B4-BE49-F238E27FC236}">
                <a16:creationId xmlns:a16="http://schemas.microsoft.com/office/drawing/2014/main" id="{5750F68D-C529-4E3F-A339-FD5605D91F63}"/>
              </a:ext>
            </a:extLst>
          </p:cNvPr>
          <p:cNvSpPr>
            <a:spLocks xmlns:a="http://schemas.openxmlformats.org/drawingml/2006/main" noGrp="1"/>
          </p:cNvSpPr>
          <p:nvPr/>
        </p:nvSpPr>
        <p:spPr>
          <a:xfrm xmlns:a="http://schemas.openxmlformats.org/drawingml/2006/main">
            <a:off x="609600" y="237172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2  Session availability and appointment booking</a:t>
            </a:r>
          </a:p>
        </p:txBody>
      </p:sp>
      <p:sp>
        <p:nvSpPr>
          <p:cNvPr id="5" name="text-4">
            <a:extLst xmlns:a="http://schemas.openxmlformats.org/drawingml/2006/main">
              <a:ext uri="{FF2B5EF4-FFF2-40B4-BE49-F238E27FC236}">
                <a16:creationId xmlns:a16="http://schemas.microsoft.com/office/drawing/2014/main" id="{771ED849-1EE9-4686-A7CB-3C97342C1D8C}"/>
              </a:ext>
            </a:extLst>
          </p:cNvPr>
          <p:cNvSpPr>
            <a:spLocks xmlns:a="http://schemas.openxmlformats.org/drawingml/2006/main" noGrp="1"/>
          </p:cNvSpPr>
          <p:nvPr/>
        </p:nvSpPr>
        <p:spPr>
          <a:xfrm xmlns:a="http://schemas.openxmlformats.org/drawingml/2006/main">
            <a:off x="609600" y="323850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3  Partial payment and overpayment rejection</a:t>
            </a:r>
          </a:p>
        </p:txBody>
      </p:sp>
      <p:sp>
        <p:nvSpPr>
          <p:cNvPr id="6" name="text-5">
            <a:extLst xmlns:a="http://schemas.openxmlformats.org/drawingml/2006/main">
              <a:ext uri="{FF2B5EF4-FFF2-40B4-BE49-F238E27FC236}">
                <a16:creationId xmlns:a16="http://schemas.microsoft.com/office/drawing/2014/main" id="{4DBC6D1A-D38D-473F-8415-61386CE69E31}"/>
              </a:ext>
            </a:extLst>
          </p:cNvPr>
          <p:cNvSpPr>
            <a:spLocks xmlns:a="http://schemas.openxmlformats.org/drawingml/2006/main" noGrp="1"/>
          </p:cNvSpPr>
          <p:nvPr/>
        </p:nvSpPr>
        <p:spPr>
          <a:xfrm xmlns:a="http://schemas.openxmlformats.org/drawingml/2006/main">
            <a:off x="609600" y="4105275"/>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4  Started appointment consultation and prescription</a:t>
            </a:r>
          </a:p>
        </p:txBody>
      </p:sp>
      <p:sp>
        <p:nvSpPr>
          <p:cNvPr id="7" name="text-6">
            <a:extLst xmlns:a="http://schemas.openxmlformats.org/drawingml/2006/main">
              <a:ext uri="{FF2B5EF4-FFF2-40B4-BE49-F238E27FC236}">
                <a16:creationId xmlns:a16="http://schemas.microsoft.com/office/drawing/2014/main" id="{794924C0-42CB-4701-B580-0F456E002136}"/>
              </a:ext>
            </a:extLst>
          </p:cNvPr>
          <p:cNvSpPr>
            <a:spLocks xmlns:a="http://schemas.openxmlformats.org/drawingml/2006/main" noGrp="1"/>
          </p:cNvSpPr>
          <p:nvPr/>
        </p:nvSpPr>
        <p:spPr>
          <a:xfrm xmlns:a="http://schemas.openxmlformats.org/drawingml/2006/main">
            <a:off x="609600" y="4972050"/>
            <a:ext cx="10953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5  All five reports and patient history</a:t>
            </a:r>
          </a:p>
        </p:txBody>
      </p:sp>
    </p:spTree>
    <p:extLst>
      <p:ext uri="{BB962C8B-B14F-4D97-AF65-F5344CB8AC3E}">
        <p14:creationId xmlns:p14="http://schemas.microsoft.com/office/powerpoint/2010/main" val="16046316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9715755-8A39-4E6D-8FA7-907C71BBB11C}"/>
              </a:ext>
            </a:extLst>
          </p:cNvPr>
          <p:cNvSpPr>
            <a:spLocks xmlns:a="http://schemas.openxmlformats.org/drawingml/2006/main" noGrp="1"/>
          </p:cNvSpPr>
          <p:nvPr/>
        </p:nvSpPr>
        <p:spPr>
          <a:xfrm xmlns:a="http://schemas.openxmlformats.org/drawingml/2006/main">
            <a:off x="609600" y="3810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73D38"/>
                </a:solidFill>
                <a:latin typeface="DejaVu Sans"/>
                <a:ea typeface="DejaVu Sans"/>
                <a:cs typeface="DejaVu Sans"/>
              </a:defRPr>
            </a:defPPr>
            <a:lvl1pPr>
              <a:defRPr sz="3150" b="1">
                <a:solidFill>
                  <a:srgbClr val="173D38"/>
                </a:solidFill>
                <a:latin typeface="DejaVu Sans"/>
                <a:ea typeface="DejaVu Sans"/>
                <a:cs typeface="DejaVu Sans"/>
              </a:defRPr>
            </a:lvl1pPr>
            <a:lvl2pPr>
              <a:defRPr sz="3150" b="1">
                <a:solidFill>
                  <a:srgbClr val="173D38"/>
                </a:solidFill>
                <a:latin typeface="DejaVu Sans"/>
                <a:ea typeface="DejaVu Sans"/>
                <a:cs typeface="DejaVu Sans"/>
              </a:defRPr>
            </a:lvl2pPr>
            <a:lvl3pPr>
              <a:defRPr sz="3150" b="1">
                <a:solidFill>
                  <a:srgbClr val="173D38"/>
                </a:solidFill>
                <a:latin typeface="DejaVu Sans"/>
                <a:ea typeface="DejaVu Sans"/>
                <a:cs typeface="DejaVu Sans"/>
              </a:defRPr>
            </a:lvl3pPr>
            <a:lvl4pPr>
              <a:defRPr sz="3150" b="1">
                <a:solidFill>
                  <a:srgbClr val="173D38"/>
                </a:solidFill>
                <a:latin typeface="DejaVu Sans"/>
                <a:ea typeface="DejaVu Sans"/>
                <a:cs typeface="DejaVu Sans"/>
              </a:defRPr>
            </a:lvl4pPr>
            <a:lvl5pPr>
              <a:defRPr sz="3150" b="1">
                <a:solidFill>
                  <a:srgbClr val="173D38"/>
                </a:solidFill>
                <a:latin typeface="DejaVu Sans"/>
                <a:ea typeface="DejaVu Sans"/>
                <a:cs typeface="DejaVu Sans"/>
              </a:defRPr>
            </a:lvl5pPr>
            <a:lvl6pPr>
              <a:defRPr sz="3150" b="1">
                <a:solidFill>
                  <a:srgbClr val="173D38"/>
                </a:solidFill>
                <a:latin typeface="DejaVu Sans"/>
                <a:ea typeface="DejaVu Sans"/>
                <a:cs typeface="DejaVu Sans"/>
              </a:defRPr>
            </a:lvl6pPr>
            <a:lvl7pPr>
              <a:defRPr sz="3150" b="1">
                <a:solidFill>
                  <a:srgbClr val="173D38"/>
                </a:solidFill>
                <a:latin typeface="DejaVu Sans"/>
                <a:ea typeface="DejaVu Sans"/>
                <a:cs typeface="DejaVu Sans"/>
              </a:defRPr>
            </a:lvl7pPr>
            <a:lvl8pPr>
              <a:defRPr sz="3150" b="1">
                <a:solidFill>
                  <a:srgbClr val="173D38"/>
                </a:solidFill>
                <a:latin typeface="DejaVu Sans"/>
                <a:ea typeface="DejaVu Sans"/>
                <a:cs typeface="DejaVu Sans"/>
              </a:defRPr>
            </a:lvl8pPr>
            <a:lvl9pPr>
              <a:defRPr sz="3150" b="1">
                <a:solidFill>
                  <a:srgbClr val="173D38"/>
                </a:solidFill>
                <a:latin typeface="DejaVu Sans"/>
                <a:ea typeface="DejaVu Sans"/>
                <a:cs typeface="DejaVu Sans"/>
              </a:defRPr>
            </a:lvl9pPr>
          </a:lstStyle>
          <a:p xmlns:a="http://schemas.openxmlformats.org/drawingml/2006/main">
            <a:pPr>
              <a:defRPr sz="3150" b="1">
                <a:solidFill>
                  <a:srgbClr val="173D38"/>
                </a:solidFill>
                <a:latin typeface="DejaVu Sans"/>
                <a:ea typeface="DejaVu Sans"/>
                <a:cs typeface="DejaVu Sans"/>
              </a:defRPr>
            </a:pPr>
            <a:r>
              <a:rPr sz="3150" b="1">
                <a:solidFill>
                  <a:srgbClr val="173D38"/>
                </a:solidFill>
                <a:latin typeface="DejaVu Sans"/>
                <a:ea typeface="DejaVu Sans"/>
                <a:cs typeface="DejaVu Sans"/>
              </a:rPr>
              <a:t>Current scope and future improvements</a:t>
            </a:r>
          </a:p>
        </p:txBody>
      </p:sp>
      <p:sp>
        <p:nvSpPr>
          <p:cNvPr id="2" name="text-1">
            <a:extLst xmlns:a="http://schemas.openxmlformats.org/drawingml/2006/main">
              <a:ext uri="{FF2B5EF4-FFF2-40B4-BE49-F238E27FC236}">
                <a16:creationId xmlns:a16="http://schemas.microsoft.com/office/drawing/2014/main" id="{2079D61E-2EA8-44F8-A185-A875D407635C}"/>
              </a:ext>
            </a:extLst>
          </p:cNvPr>
          <p:cNvSpPr>
            <a:spLocks xmlns:a="http://schemas.openxmlformats.org/drawingml/2006/main" noGrp="1"/>
          </p:cNvSpPr>
          <p:nvPr/>
        </p:nvSpPr>
        <p:spPr>
          <a:xfrm xmlns:a="http://schemas.openxmlformats.org/drawingml/2006/main">
            <a:off x="11144250" y="64103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9635F"/>
                </a:solidFill>
                <a:latin typeface="DejaVu Sans"/>
                <a:ea typeface="DejaVu Sans"/>
                <a:cs typeface="DejaVu Sans"/>
              </a:defRPr>
            </a:defPPr>
            <a:lvl1pPr>
              <a:defRPr sz="1275" b="0">
                <a:solidFill>
                  <a:srgbClr val="49635F"/>
                </a:solidFill>
                <a:latin typeface="DejaVu Sans"/>
                <a:ea typeface="DejaVu Sans"/>
                <a:cs typeface="DejaVu Sans"/>
              </a:defRPr>
            </a:lvl1pPr>
            <a:lvl2pPr>
              <a:defRPr sz="1275" b="0">
                <a:solidFill>
                  <a:srgbClr val="49635F"/>
                </a:solidFill>
                <a:latin typeface="DejaVu Sans"/>
                <a:ea typeface="DejaVu Sans"/>
                <a:cs typeface="DejaVu Sans"/>
              </a:defRPr>
            </a:lvl2pPr>
            <a:lvl3pPr>
              <a:defRPr sz="1275" b="0">
                <a:solidFill>
                  <a:srgbClr val="49635F"/>
                </a:solidFill>
                <a:latin typeface="DejaVu Sans"/>
                <a:ea typeface="DejaVu Sans"/>
                <a:cs typeface="DejaVu Sans"/>
              </a:defRPr>
            </a:lvl3pPr>
            <a:lvl4pPr>
              <a:defRPr sz="1275" b="0">
                <a:solidFill>
                  <a:srgbClr val="49635F"/>
                </a:solidFill>
                <a:latin typeface="DejaVu Sans"/>
                <a:ea typeface="DejaVu Sans"/>
                <a:cs typeface="DejaVu Sans"/>
              </a:defRPr>
            </a:lvl4pPr>
            <a:lvl5pPr>
              <a:defRPr sz="1275" b="0">
                <a:solidFill>
                  <a:srgbClr val="49635F"/>
                </a:solidFill>
                <a:latin typeface="DejaVu Sans"/>
                <a:ea typeface="DejaVu Sans"/>
                <a:cs typeface="DejaVu Sans"/>
              </a:defRPr>
            </a:lvl5pPr>
            <a:lvl6pPr>
              <a:defRPr sz="1275" b="0">
                <a:solidFill>
                  <a:srgbClr val="49635F"/>
                </a:solidFill>
                <a:latin typeface="DejaVu Sans"/>
                <a:ea typeface="DejaVu Sans"/>
                <a:cs typeface="DejaVu Sans"/>
              </a:defRPr>
            </a:lvl6pPr>
            <a:lvl7pPr>
              <a:defRPr sz="1275" b="0">
                <a:solidFill>
                  <a:srgbClr val="49635F"/>
                </a:solidFill>
                <a:latin typeface="DejaVu Sans"/>
                <a:ea typeface="DejaVu Sans"/>
                <a:cs typeface="DejaVu Sans"/>
              </a:defRPr>
            </a:lvl7pPr>
            <a:lvl8pPr>
              <a:defRPr sz="1275" b="0">
                <a:solidFill>
                  <a:srgbClr val="49635F"/>
                </a:solidFill>
                <a:latin typeface="DejaVu Sans"/>
                <a:ea typeface="DejaVu Sans"/>
                <a:cs typeface="DejaVu Sans"/>
              </a:defRPr>
            </a:lvl8pPr>
            <a:lvl9pPr>
              <a:defRPr sz="1275" b="0">
                <a:solidFill>
                  <a:srgbClr val="49635F"/>
                </a:solidFill>
                <a:latin typeface="DejaVu Sans"/>
                <a:ea typeface="DejaVu Sans"/>
                <a:cs typeface="DejaVu Sans"/>
              </a:defRPr>
            </a:lvl9pPr>
          </a:lstStyle>
          <a:p xmlns:a="http://schemas.openxmlformats.org/drawingml/2006/main">
            <a:pPr>
              <a:defRPr sz="1275" b="0">
                <a:solidFill>
                  <a:srgbClr val="49635F"/>
                </a:solidFill>
                <a:latin typeface="DejaVu Sans"/>
                <a:ea typeface="DejaVu Sans"/>
                <a:cs typeface="DejaVu Sans"/>
              </a:defRPr>
            </a:pPr>
            <a:r>
              <a:rPr sz="1275" b="0">
                <a:solidFill>
                  <a:srgbClr val="49635F"/>
                </a:solidFill>
                <a:latin typeface="DejaVu Sans"/>
                <a:ea typeface="DejaVu Sans"/>
                <a:cs typeface="DejaVu Sans"/>
              </a:rPr>
              <a:t>13</a:t>
            </a:r>
          </a:p>
        </p:txBody>
      </p:sp>
      <p:sp>
        <p:nvSpPr>
          <p:cNvPr id="3" name="text-2">
            <a:extLst xmlns:a="http://schemas.openxmlformats.org/drawingml/2006/main">
              <a:ext uri="{FF2B5EF4-FFF2-40B4-BE49-F238E27FC236}">
                <a16:creationId xmlns:a16="http://schemas.microsoft.com/office/drawing/2014/main" id="{55F8FAAA-2FD8-466D-A986-94412F23C70E}"/>
              </a:ext>
            </a:extLst>
          </p:cNvPr>
          <p:cNvSpPr>
            <a:spLocks xmlns:a="http://schemas.openxmlformats.org/drawingml/2006/main" noGrp="1"/>
          </p:cNvSpPr>
          <p:nvPr/>
        </p:nvSpPr>
        <p:spPr>
          <a:xfrm xmlns:a="http://schemas.openxmlformats.org/drawingml/2006/main">
            <a:off x="609600" y="16668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The local system covers the required core operations</a:t>
            </a:r>
          </a:p>
        </p:txBody>
      </p:sp>
      <p:sp>
        <p:nvSpPr>
          <p:cNvPr id="4" name="text-3">
            <a:extLst xmlns:a="http://schemas.openxmlformats.org/drawingml/2006/main">
              <a:ext uri="{FF2B5EF4-FFF2-40B4-BE49-F238E27FC236}">
                <a16:creationId xmlns:a16="http://schemas.microsoft.com/office/drawing/2014/main" id="{9DD64A31-F692-48DB-8ED3-465DE0A83449}"/>
              </a:ext>
            </a:extLst>
          </p:cNvPr>
          <p:cNvSpPr>
            <a:spLocks xmlns:a="http://schemas.openxmlformats.org/drawingml/2006/main" noGrp="1"/>
          </p:cNvSpPr>
          <p:nvPr/>
        </p:nvSpPr>
        <p:spPr>
          <a:xfrm xmlns:a="http://schemas.openxmlformats.org/drawingml/2006/main">
            <a:off x="609600" y="26574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Test records and payment entries are synthetic</a:t>
            </a:r>
          </a:p>
        </p:txBody>
      </p:sp>
      <p:sp>
        <p:nvSpPr>
          <p:cNvPr id="5" name="text-4">
            <a:extLst xmlns:a="http://schemas.openxmlformats.org/drawingml/2006/main">
              <a:ext uri="{FF2B5EF4-FFF2-40B4-BE49-F238E27FC236}">
                <a16:creationId xmlns:a16="http://schemas.microsoft.com/office/drawing/2014/main" id="{CA2CA4B2-B41C-40C5-A0D0-327F862B4A75}"/>
              </a:ext>
            </a:extLst>
          </p:cNvPr>
          <p:cNvSpPr>
            <a:spLocks xmlns:a="http://schemas.openxmlformats.org/drawingml/2006/main" noGrp="1"/>
          </p:cNvSpPr>
          <p:nvPr/>
        </p:nvSpPr>
        <p:spPr>
          <a:xfrm xmlns:a="http://schemas.openxmlformats.org/drawingml/2006/main">
            <a:off x="609600" y="36480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Authentication and external payment integration remain future work</a:t>
            </a:r>
          </a:p>
        </p:txBody>
      </p:sp>
      <p:sp>
        <p:nvSpPr>
          <p:cNvPr id="6" name="text-5">
            <a:extLst xmlns:a="http://schemas.openxmlformats.org/drawingml/2006/main">
              <a:ext uri="{FF2B5EF4-FFF2-40B4-BE49-F238E27FC236}">
                <a16:creationId xmlns:a16="http://schemas.microsoft.com/office/drawing/2014/main" id="{81C1203D-4D7B-4B77-892D-70C84C8CEA91}"/>
              </a:ext>
            </a:extLst>
          </p:cNvPr>
          <p:cNvSpPr>
            <a:spLocks xmlns:a="http://schemas.openxmlformats.org/drawingml/2006/main" noGrp="1"/>
          </p:cNvSpPr>
          <p:nvPr/>
        </p:nvSpPr>
        <p:spPr>
          <a:xfrm xmlns:a="http://schemas.openxmlformats.org/drawingml/2006/main">
            <a:off x="609600" y="4638675"/>
            <a:ext cx="1095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3D38"/>
                </a:solidFill>
                <a:latin typeface="DejaVu Sans"/>
                <a:ea typeface="DejaVu Sans"/>
                <a:cs typeface="DejaVu Sans"/>
              </a:defRPr>
            </a:defPPr>
            <a:lvl1pPr>
              <a:defRPr sz="2175" b="0">
                <a:solidFill>
                  <a:srgbClr val="173D38"/>
                </a:solidFill>
                <a:latin typeface="DejaVu Sans"/>
                <a:ea typeface="DejaVu Sans"/>
                <a:cs typeface="DejaVu Sans"/>
              </a:defRPr>
            </a:lvl1pPr>
            <a:lvl2pPr>
              <a:defRPr sz="2175" b="0">
                <a:solidFill>
                  <a:srgbClr val="173D38"/>
                </a:solidFill>
                <a:latin typeface="DejaVu Sans"/>
                <a:ea typeface="DejaVu Sans"/>
                <a:cs typeface="DejaVu Sans"/>
              </a:defRPr>
            </a:lvl2pPr>
            <a:lvl3pPr>
              <a:defRPr sz="2175" b="0">
                <a:solidFill>
                  <a:srgbClr val="173D38"/>
                </a:solidFill>
                <a:latin typeface="DejaVu Sans"/>
                <a:ea typeface="DejaVu Sans"/>
                <a:cs typeface="DejaVu Sans"/>
              </a:defRPr>
            </a:lvl3pPr>
            <a:lvl4pPr>
              <a:defRPr sz="2175" b="0">
                <a:solidFill>
                  <a:srgbClr val="173D38"/>
                </a:solidFill>
                <a:latin typeface="DejaVu Sans"/>
                <a:ea typeface="DejaVu Sans"/>
                <a:cs typeface="DejaVu Sans"/>
              </a:defRPr>
            </a:lvl4pPr>
            <a:lvl5pPr>
              <a:defRPr sz="2175" b="0">
                <a:solidFill>
                  <a:srgbClr val="173D38"/>
                </a:solidFill>
                <a:latin typeface="DejaVu Sans"/>
                <a:ea typeface="DejaVu Sans"/>
                <a:cs typeface="DejaVu Sans"/>
              </a:defRPr>
            </a:lvl5pPr>
            <a:lvl6pPr>
              <a:defRPr sz="2175" b="0">
                <a:solidFill>
                  <a:srgbClr val="173D38"/>
                </a:solidFill>
                <a:latin typeface="DejaVu Sans"/>
                <a:ea typeface="DejaVu Sans"/>
                <a:cs typeface="DejaVu Sans"/>
              </a:defRPr>
            </a:lvl6pPr>
            <a:lvl7pPr>
              <a:defRPr sz="2175" b="0">
                <a:solidFill>
                  <a:srgbClr val="173D38"/>
                </a:solidFill>
                <a:latin typeface="DejaVu Sans"/>
                <a:ea typeface="DejaVu Sans"/>
                <a:cs typeface="DejaVu Sans"/>
              </a:defRPr>
            </a:lvl7pPr>
            <a:lvl8pPr>
              <a:defRPr sz="2175" b="0">
                <a:solidFill>
                  <a:srgbClr val="173D38"/>
                </a:solidFill>
                <a:latin typeface="DejaVu Sans"/>
                <a:ea typeface="DejaVu Sans"/>
                <a:cs typeface="DejaVu Sans"/>
              </a:defRPr>
            </a:lvl8pPr>
            <a:lvl9pPr>
              <a:defRPr sz="2175" b="0">
                <a:solidFill>
                  <a:srgbClr val="173D38"/>
                </a:solidFill>
                <a:latin typeface="DejaVu Sans"/>
                <a:ea typeface="DejaVu Sans"/>
                <a:cs typeface="DejaVu Sans"/>
              </a:defRPr>
            </a:lvl9pPr>
          </a:lstStyle>
          <a:p xmlns:a="http://schemas.openxmlformats.org/drawingml/2006/main">
            <a:pPr>
              <a:defRPr sz="2175" b="0">
                <a:solidFill>
                  <a:srgbClr val="173D38"/>
                </a:solidFill>
                <a:latin typeface="DejaVu Sans"/>
                <a:ea typeface="DejaVu Sans"/>
                <a:cs typeface="DejaVu Sans"/>
              </a:defRPr>
            </a:pPr>
            <a:r>
              <a:rPr sz="2175" b="0">
                <a:solidFill>
                  <a:srgbClr val="173D38"/>
                </a:solidFill>
                <a:latin typeface="DejaVu Sans"/>
                <a:ea typeface="DejaVu Sans"/>
                <a:cs typeface="DejaVu Sans"/>
              </a:rPr>
              <a:t>Further checks include concurrent booking and backup recovery</a:t>
            </a:r>
          </a:p>
        </p:txBody>
      </p:sp>
    </p:spTree>
    <p:extLst>
      <p:ext uri="{BB962C8B-B14F-4D97-AF65-F5344CB8AC3E}">
        <p14:creationId xmlns:p14="http://schemas.microsoft.com/office/powerpoint/2010/main" val="1633321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2026-10-27T15:59:03.4880000Z</dcterms:created>
  <dcterms:modified xsi:type="dcterms:W3CDTF">2026-10-27T15:59:03.4890000Z</dcterms:modified>
</coreProperties>
</file>